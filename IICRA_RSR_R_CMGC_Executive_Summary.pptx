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4" r:id="rId1"/>
  </p:sldMasterIdLst>
  <p:notesMasterIdLst>
    <p:notesMasterId r:id="rId20"/>
  </p:notesMasterIdLst>
  <p:handoutMasterIdLst>
    <p:handoutMasterId r:id="rId21"/>
  </p:handoutMasterIdLst>
  <p:sldIdLst>
    <p:sldId id="306" r:id="rId2"/>
    <p:sldId id="325" r:id="rId3"/>
    <p:sldId id="330" r:id="rId4"/>
    <p:sldId id="334" r:id="rId5"/>
    <p:sldId id="326" r:id="rId6"/>
    <p:sldId id="327" r:id="rId7"/>
    <p:sldId id="331" r:id="rId8"/>
    <p:sldId id="332" r:id="rId9"/>
    <p:sldId id="335" r:id="rId10"/>
    <p:sldId id="314" r:id="rId11"/>
    <p:sldId id="316" r:id="rId12"/>
    <p:sldId id="339" r:id="rId13"/>
    <p:sldId id="344" r:id="rId14"/>
    <p:sldId id="336" r:id="rId15"/>
    <p:sldId id="324" r:id="rId16"/>
    <p:sldId id="345" r:id="rId17"/>
    <p:sldId id="321" r:id="rId18"/>
    <p:sldId id="323" r:id="rId19"/>
  </p:sldIdLst>
  <p:sldSz cx="9144000" cy="6858000" type="screen4x3"/>
  <p:notesSz cx="6980238" cy="9144000"/>
  <p:custDataLst>
    <p:tags r:id="rId22"/>
  </p:custDataLst>
  <p:defaultTextStyle>
    <a:defPPr>
      <a:defRPr lang="en-US"/>
    </a:defPPr>
    <a:lvl1pPr algn="l" defTabSz="457200" rtl="0" fontAlgn="base">
      <a:spcBef>
        <a:spcPct val="0"/>
      </a:spcBef>
      <a:spcAft>
        <a:spcPct val="0"/>
      </a:spcAft>
      <a:defRPr kern="1200">
        <a:solidFill>
          <a:schemeClr val="tx1"/>
        </a:solidFill>
        <a:latin typeface="Calibri"/>
        <a:ea typeface="MS PGothic" charset="0"/>
        <a:cs typeface="MS PGothic" charset="0"/>
      </a:defRPr>
    </a:lvl1pPr>
    <a:lvl2pPr marL="457200" algn="l" defTabSz="457200" rtl="0" fontAlgn="base">
      <a:spcBef>
        <a:spcPct val="0"/>
      </a:spcBef>
      <a:spcAft>
        <a:spcPct val="0"/>
      </a:spcAft>
      <a:defRPr kern="1200">
        <a:solidFill>
          <a:schemeClr val="tx1"/>
        </a:solidFill>
        <a:latin typeface="Calibri"/>
        <a:ea typeface="MS PGothic" charset="0"/>
        <a:cs typeface="MS PGothic" charset="0"/>
      </a:defRPr>
    </a:lvl2pPr>
    <a:lvl3pPr marL="914400" algn="l" defTabSz="457200" rtl="0" fontAlgn="base">
      <a:spcBef>
        <a:spcPct val="0"/>
      </a:spcBef>
      <a:spcAft>
        <a:spcPct val="0"/>
      </a:spcAft>
      <a:defRPr kern="1200">
        <a:solidFill>
          <a:schemeClr val="tx1"/>
        </a:solidFill>
        <a:latin typeface="Calibri"/>
        <a:ea typeface="MS PGothic" charset="0"/>
        <a:cs typeface="MS PGothic" charset="0"/>
      </a:defRPr>
    </a:lvl3pPr>
    <a:lvl4pPr marL="1371600" algn="l" defTabSz="457200" rtl="0" fontAlgn="base">
      <a:spcBef>
        <a:spcPct val="0"/>
      </a:spcBef>
      <a:spcAft>
        <a:spcPct val="0"/>
      </a:spcAft>
      <a:defRPr kern="1200">
        <a:solidFill>
          <a:schemeClr val="tx1"/>
        </a:solidFill>
        <a:latin typeface="Calibri"/>
        <a:ea typeface="MS PGothic" charset="0"/>
        <a:cs typeface="MS PGothic" charset="0"/>
      </a:defRPr>
    </a:lvl4pPr>
    <a:lvl5pPr marL="1828800" algn="l" defTabSz="457200" rtl="0" fontAlgn="base">
      <a:spcBef>
        <a:spcPct val="0"/>
      </a:spcBef>
      <a:spcAft>
        <a:spcPct val="0"/>
      </a:spcAft>
      <a:defRPr kern="1200">
        <a:solidFill>
          <a:schemeClr val="tx1"/>
        </a:solidFill>
        <a:latin typeface="Calibri"/>
        <a:ea typeface="MS PGothic" charset="0"/>
        <a:cs typeface="MS PGothic" charset="0"/>
      </a:defRPr>
    </a:lvl5pPr>
    <a:lvl6pPr marL="2286000" algn="l" defTabSz="457200" rtl="0" eaLnBrk="1" latinLnBrk="0" hangingPunct="1">
      <a:defRPr kern="1200">
        <a:solidFill>
          <a:schemeClr val="tx1"/>
        </a:solidFill>
        <a:latin typeface="Calibri"/>
        <a:ea typeface="MS PGothic" charset="0"/>
        <a:cs typeface="MS PGothic" charset="0"/>
      </a:defRPr>
    </a:lvl6pPr>
    <a:lvl7pPr marL="2743200" algn="l" defTabSz="457200" rtl="0" eaLnBrk="1" latinLnBrk="0" hangingPunct="1">
      <a:defRPr kern="1200">
        <a:solidFill>
          <a:schemeClr val="tx1"/>
        </a:solidFill>
        <a:latin typeface="Calibri"/>
        <a:ea typeface="MS PGothic" charset="0"/>
        <a:cs typeface="MS PGothic" charset="0"/>
      </a:defRPr>
    </a:lvl7pPr>
    <a:lvl8pPr marL="3200400" algn="l" defTabSz="457200" rtl="0" eaLnBrk="1" latinLnBrk="0" hangingPunct="1">
      <a:defRPr kern="1200">
        <a:solidFill>
          <a:schemeClr val="tx1"/>
        </a:solidFill>
        <a:latin typeface="Calibri"/>
        <a:ea typeface="MS PGothic" charset="0"/>
        <a:cs typeface="MS PGothic" charset="0"/>
      </a:defRPr>
    </a:lvl8pPr>
    <a:lvl9pPr marL="3657600" algn="l" defTabSz="457200" rtl="0" eaLnBrk="1" latinLnBrk="0" hangingPunct="1">
      <a:defRPr kern="1200">
        <a:solidFill>
          <a:schemeClr val="tx1"/>
        </a:solidFill>
        <a:latin typeface="Calibri"/>
        <a:ea typeface="MS PGothic" charset="0"/>
        <a:cs typeface="MS PGothic" charset="0"/>
      </a:defRPr>
    </a:lvl9pPr>
  </p:defaultTextStyle>
  <p:extLst>
    <p:ext uri="{EFAFB233-063F-42B5-8137-9DF3F51BA10A}">
      <p15:sldGuideLst xmlns:p15="http://schemas.microsoft.com/office/powerpoint/2012/main">
        <p15:guide id="1" orient="horz" pos="3144" userDrawn="1">
          <p15:clr>
            <a:srgbClr val="A4A3A4"/>
          </p15:clr>
        </p15:guide>
        <p15:guide id="2" orient="horz" pos="189" userDrawn="1">
          <p15:clr>
            <a:srgbClr val="A4A3A4"/>
          </p15:clr>
        </p15:guide>
        <p15:guide id="3" orient="horz" pos="696" userDrawn="1">
          <p15:clr>
            <a:srgbClr val="A4A3A4"/>
          </p15:clr>
        </p15:guide>
        <p15:guide id="4" orient="horz" pos="2592" userDrawn="1">
          <p15:clr>
            <a:srgbClr val="A4A3A4"/>
          </p15:clr>
        </p15:guide>
        <p15:guide id="5" orient="horz" pos="3775">
          <p15:clr>
            <a:srgbClr val="A4A3A4"/>
          </p15:clr>
        </p15:guide>
        <p15:guide id="6" pos="3336" userDrawn="1">
          <p15:clr>
            <a:srgbClr val="A4A3A4"/>
          </p15:clr>
        </p15:guide>
        <p15:guide id="7" pos="198">
          <p15:clr>
            <a:srgbClr val="A4A3A4"/>
          </p15:clr>
        </p15:guide>
        <p15:guide id="8" pos="4536" userDrawn="1">
          <p15:clr>
            <a:srgbClr val="A4A3A4"/>
          </p15:clr>
        </p15:guide>
        <p15:guide id="9" pos="4045">
          <p15:clr>
            <a:srgbClr val="A4A3A4"/>
          </p15:clr>
        </p15:guide>
        <p15:guide id="10" orient="horz" pos="385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9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8C3616-4994-4D49-99B3-B5A9011BFD49}" v="1" dt="2026-06-22T14:53:26.810"/>
  </p1510:revLst>
</p1510:revInfo>
</file>

<file path=ppt/tableStyles.xml><?xml version="1.0" encoding="utf-8"?>
<a:tblStyleLst xmlns:a="http://schemas.openxmlformats.org/drawingml/2006/main" def="{E8034E78-7F5D-4C2E-B375-FC64B27BC917}">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13" autoAdjust="0"/>
    <p:restoredTop sz="96247" autoAdjust="0"/>
  </p:normalViewPr>
  <p:slideViewPr>
    <p:cSldViewPr snapToGrid="0" snapToObjects="1">
      <p:cViewPr varScale="1">
        <p:scale>
          <a:sx n="37" d="100"/>
          <a:sy n="37" d="100"/>
        </p:scale>
        <p:origin x="1116" y="28"/>
      </p:cViewPr>
      <p:guideLst>
        <p:guide orient="horz" pos="3144"/>
        <p:guide orient="horz" pos="189"/>
        <p:guide orient="horz" pos="696"/>
        <p:guide orient="horz" pos="2592"/>
        <p:guide orient="horz" pos="3775"/>
        <p:guide pos="3336"/>
        <p:guide pos="198"/>
        <p:guide pos="4536"/>
        <p:guide pos="4045"/>
        <p:guide orient="horz" pos="385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1" d="100"/>
        <a:sy n="111" d="100"/>
      </p:scale>
      <p:origin x="0" y="4352"/>
    </p:cViewPr>
  </p:sorterViewPr>
  <p:notesViewPr>
    <p:cSldViewPr snapToGrid="0" snapToObjects="1">
      <p:cViewPr varScale="1">
        <p:scale>
          <a:sx n="138" d="100"/>
          <a:sy n="138" d="100"/>
        </p:scale>
        <p:origin x="3168" y="184"/>
      </p:cViewPr>
      <p:guideLst>
        <p:guide orient="horz" pos="2880"/>
        <p:guide pos="219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g, Derek (Analytical)" userId="515ae1e6-98be-470a-920b-6788e5a6ed00" providerId="ADAL" clId="{74F606F4-2E3D-4316-A35C-623FC42CBCA8}"/>
    <pc:docChg chg="modSld">
      <pc:chgData name="Ding, Derek (Analytical)" userId="515ae1e6-98be-470a-920b-6788e5a6ed00" providerId="ADAL" clId="{74F606F4-2E3D-4316-A35C-623FC42CBCA8}" dt="2026-06-22T14:53:33.014" v="36" actId="20577"/>
      <pc:docMkLst>
        <pc:docMk/>
      </pc:docMkLst>
      <pc:sldChg chg="modSp mod">
        <pc:chgData name="Ding, Derek (Analytical)" userId="515ae1e6-98be-470a-920b-6788e5a6ed00" providerId="ADAL" clId="{74F606F4-2E3D-4316-A35C-623FC42CBCA8}" dt="2026-06-22T14:53:33.014" v="36" actId="20577"/>
        <pc:sldMkLst>
          <pc:docMk/>
          <pc:sldMk cId="3110272117" sldId="306"/>
        </pc:sldMkLst>
        <pc:spChg chg="mod">
          <ac:chgData name="Ding, Derek (Analytical)" userId="515ae1e6-98be-470a-920b-6788e5a6ed00" providerId="ADAL" clId="{74F606F4-2E3D-4316-A35C-623FC42CBCA8}" dt="2026-06-22T14:53:33.014" v="36" actId="20577"/>
          <ac:spMkLst>
            <pc:docMk/>
            <pc:sldMk cId="3110272117" sldId="306"/>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3853" y="0"/>
            <a:ext cx="3024770" cy="457200"/>
          </a:xfrm>
          <a:prstGeom prst="rect">
            <a:avLst/>
          </a:prstGeom>
        </p:spPr>
        <p:txBody>
          <a:bodyPr vert="horz" lIns="91440" tIns="45720" rIns="91440" bIns="45720" rtlCol="0"/>
          <a:lstStyle>
            <a:lvl1pPr algn="r">
              <a:defRPr sz="1200"/>
            </a:lvl1pPr>
          </a:lstStyle>
          <a:p>
            <a:fld id="{51E76258-0CB2-5E46-BDCC-DEDAA3D29929}" type="datetime1">
              <a:rPr lang="en-US" smtClean="0"/>
              <a:t>6/22/2026</a:t>
            </a:fld>
            <a:endParaRPr lang="en-US"/>
          </a:p>
        </p:txBody>
      </p:sp>
      <p:sp>
        <p:nvSpPr>
          <p:cNvPr id="4" name="Footer Placeholder 3"/>
          <p:cNvSpPr>
            <a:spLocks noGrp="1"/>
          </p:cNvSpPr>
          <p:nvPr>
            <p:ph type="ftr" sz="quarter" idx="2"/>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3853" y="8685213"/>
            <a:ext cx="3024770" cy="457200"/>
          </a:xfrm>
          <a:prstGeom prst="rect">
            <a:avLst/>
          </a:prstGeom>
        </p:spPr>
        <p:txBody>
          <a:bodyPr vert="horz" lIns="91440" tIns="45720" rIns="91440" bIns="45720" rtlCol="0" anchor="b"/>
          <a:lstStyle>
            <a:lvl1pPr algn="r">
              <a:defRPr sz="1200"/>
            </a:lvl1pPr>
          </a:lstStyle>
          <a:p>
            <a:fld id="{AB9D3D46-F3C0-4F41-A7F5-0CE676534EBE}" type="slidenum">
              <a:rPr lang="en-US" smtClean="0"/>
              <a:t>‹#›</a:t>
            </a:fld>
            <a:endParaRPr lang="en-US"/>
          </a:p>
        </p:txBody>
      </p:sp>
    </p:spTree>
    <p:extLst>
      <p:ext uri="{BB962C8B-B14F-4D97-AF65-F5344CB8AC3E}">
        <p14:creationId xmlns:p14="http://schemas.microsoft.com/office/powerpoint/2010/main" val="254149708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3853" y="0"/>
            <a:ext cx="3024770" cy="457200"/>
          </a:xfrm>
          <a:prstGeom prst="rect">
            <a:avLst/>
          </a:prstGeom>
        </p:spPr>
        <p:txBody>
          <a:bodyPr vert="horz" lIns="91440" tIns="45720" rIns="91440" bIns="45720" rtlCol="0"/>
          <a:lstStyle>
            <a:lvl1pPr algn="r">
              <a:defRPr sz="1200"/>
            </a:lvl1pPr>
          </a:lstStyle>
          <a:p>
            <a:fld id="{6CC18655-D016-D145-A70E-0F6F8E9B9A7C}" type="datetime1">
              <a:rPr lang="en-US" smtClean="0"/>
              <a:t>6/22/2026</a:t>
            </a:fld>
            <a:endParaRPr lang="en-US"/>
          </a:p>
        </p:txBody>
      </p:sp>
      <p:sp>
        <p:nvSpPr>
          <p:cNvPr id="4" name="Slide Image Placeholder 3"/>
          <p:cNvSpPr>
            <a:spLocks noGrp="1" noRot="1" noChangeAspect="1"/>
          </p:cNvSpPr>
          <p:nvPr>
            <p:ph type="sldImg" idx="2"/>
          </p:nvPr>
        </p:nvSpPr>
        <p:spPr>
          <a:xfrm>
            <a:off x="1203325" y="685800"/>
            <a:ext cx="4573588" cy="3429000"/>
          </a:xfrm>
          <a:prstGeom prst="rect">
            <a:avLst/>
          </a:prstGeom>
          <a:noFill/>
          <a:ln w="12700">
            <a:solidFill>
              <a:prstClr val="black"/>
            </a:solidFill>
          </a:ln>
        </p:spPr>
      </p:sp>
      <p:sp>
        <p:nvSpPr>
          <p:cNvPr id="5" name="Notes Placeholder 4"/>
          <p:cNvSpPr>
            <a:spLocks noGrp="1"/>
          </p:cNvSpPr>
          <p:nvPr>
            <p:ph type="body" sz="quarter" idx="3"/>
          </p:nvPr>
        </p:nvSpPr>
        <p:spPr>
          <a:xfrm>
            <a:off x="698024" y="4343400"/>
            <a:ext cx="558419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3853" y="8685213"/>
            <a:ext cx="3024770" cy="457200"/>
          </a:xfrm>
          <a:prstGeom prst="rect">
            <a:avLst/>
          </a:prstGeom>
        </p:spPr>
        <p:txBody>
          <a:bodyPr vert="horz" lIns="91440" tIns="45720" rIns="91440" bIns="45720" rtlCol="0" anchor="b"/>
          <a:lstStyle>
            <a:lvl1pPr algn="r">
              <a:defRPr sz="1200"/>
            </a:lvl1pPr>
          </a:lstStyle>
          <a:p>
            <a:fld id="{21C9A526-2B11-9B45-BFD7-2AA1CDA54972}" type="slidenum">
              <a:rPr lang="en-US" smtClean="0"/>
              <a:t>‹#›</a:t>
            </a:fld>
            <a:endParaRPr lang="en-US"/>
          </a:p>
        </p:txBody>
      </p:sp>
    </p:spTree>
    <p:extLst>
      <p:ext uri="{BB962C8B-B14F-4D97-AF65-F5344CB8AC3E}">
        <p14:creationId xmlns:p14="http://schemas.microsoft.com/office/powerpoint/2010/main" val="1422391221"/>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AFE262-7534-437E-883B-1B36A253D86E}" type="slidenum">
              <a:rPr lang="en-US" smtClean="0"/>
              <a:t>5</a:t>
            </a:fld>
            <a:endParaRPr lang="en-US"/>
          </a:p>
        </p:txBody>
      </p:sp>
    </p:spTree>
    <p:extLst>
      <p:ext uri="{BB962C8B-B14F-4D97-AF65-F5344CB8AC3E}">
        <p14:creationId xmlns:p14="http://schemas.microsoft.com/office/powerpoint/2010/main" val="13775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lai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a:ea typeface="Arial"/>
                <a:cs typeface="Arial"/>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84622"/>
            <a:ext cx="238132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177"/>
            <a:ext cx="2381326"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4" name="Date Placeholder 3"/>
          <p:cNvSpPr>
            <a:spLocks noGrp="1"/>
          </p:cNvSpPr>
          <p:nvPr>
            <p:ph type="dt" sz="half" idx="18"/>
          </p:nvPr>
        </p:nvSpPr>
        <p:spPr>
          <a:xfrm>
            <a:off x="6421438" y="1098982"/>
            <a:ext cx="2381326" cy="223277"/>
          </a:xfrm>
        </p:spPr>
        <p:txBody>
          <a:bodyPr/>
          <a:lstStyle>
            <a:lvl1pPr algn="l">
              <a:defRPr b="0" i="0">
                <a:latin typeface="Arial"/>
                <a:ea typeface="Arial"/>
                <a:cs typeface="Arial"/>
              </a:defRPr>
            </a:lvl1pPr>
          </a:lstStyle>
          <a:p>
            <a:endParaRPr lang="en-US"/>
          </a:p>
        </p:txBody>
      </p:sp>
    </p:spTree>
    <p:extLst>
      <p:ext uri="{BB962C8B-B14F-4D97-AF65-F5344CB8AC3E}">
        <p14:creationId xmlns:p14="http://schemas.microsoft.com/office/powerpoint/2010/main" val="386410643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p>
        </p:txBody>
      </p:sp>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284622"/>
            <a:ext cx="237817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602218"/>
            <a:ext cx="2378176"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6"/>
          </p:nvPr>
        </p:nvSpPr>
        <p:spPr>
          <a:xfrm>
            <a:off x="6420775" y="1100212"/>
            <a:ext cx="2386676" cy="223277"/>
          </a:xfrm>
        </p:spPr>
        <p:txBody>
          <a:bodyPr/>
          <a:lstStyle>
            <a:lvl1pPr algn="l">
              <a:defRPr>
                <a:solidFill>
                  <a:schemeClr val="tx1"/>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68412909"/>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hite Big imag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312738"/>
            <a:ext cx="8486775" cy="4645025"/>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627626" y="556302"/>
            <a:ext cx="4863464"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627625" y="1606241"/>
            <a:ext cx="4863464"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613908"/>
            <a:ext cx="2208150"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934679"/>
            <a:ext cx="2208150"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83" y="1291089"/>
            <a:ext cx="2216042" cy="223277"/>
          </a:xfrm>
        </p:spPr>
        <p:txBody>
          <a:bodyPr/>
          <a:lstStyle/>
          <a:p>
            <a:endParaRPr lang="en-US"/>
          </a:p>
        </p:txBody>
      </p:sp>
    </p:spTree>
    <p:extLst>
      <p:ext uri="{BB962C8B-B14F-4D97-AF65-F5344CB8AC3E}">
        <p14:creationId xmlns:p14="http://schemas.microsoft.com/office/powerpoint/2010/main" val="16464093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black Slim image">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5163199"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5163199"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98846"/>
            <a:ext cx="2378173"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362"/>
            <a:ext cx="2378173"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76" y="1100212"/>
            <a:ext cx="2386674" cy="223277"/>
          </a:xfrm>
        </p:spPr>
        <p:txBody>
          <a:bodyPr/>
          <a:lstStyle>
            <a:lvl1pPr>
              <a:defRPr>
                <a:solidFill>
                  <a:srgbClr val="FFFFFF"/>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744765954"/>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hite Slim image">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4257351"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4257351"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2098" y="298846"/>
            <a:ext cx="2377514"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2098" y="1601707"/>
            <a:ext cx="2377514"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1438" y="1100212"/>
            <a:ext cx="2386012" cy="223277"/>
          </a:xfrm>
        </p:spPr>
        <p:txBody>
          <a:bodyPr/>
          <a:lstStyle/>
          <a:p>
            <a:endParaRPr lang="en-US"/>
          </a:p>
        </p:txBody>
      </p:sp>
    </p:spTree>
    <p:extLst>
      <p:ext uri="{BB962C8B-B14F-4D97-AF65-F5344CB8AC3E}">
        <p14:creationId xmlns:p14="http://schemas.microsoft.com/office/powerpoint/2010/main" val="2888406154"/>
      </p:ext>
    </p:extLst>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5000"/>
              </a:lnSpc>
              <a:defRPr/>
            </a:lvl1p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543" cy="4279005"/>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Text Placeholder 9"/>
          <p:cNvSpPr>
            <a:spLocks noGrp="1"/>
          </p:cNvSpPr>
          <p:nvPr>
            <p:ph type="body" sz="quarter" idx="13"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6610028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2990117"/>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4921041"/>
            <a:ext cx="8503920" cy="1096047"/>
          </a:xfrm>
        </p:spPr>
        <p:txBody>
          <a:bodyPr anchor="b"/>
          <a:lstStyle>
            <a:lvl1pPr>
              <a:defRPr sz="950" b="0" i="0">
                <a:latin typeface="Arial Narrow" charset="0"/>
                <a:ea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ea typeface="Arial Narrow" charset="0"/>
                <a:cs typeface="Arial Narrow" charset="0"/>
              </a:defRPr>
            </a:lvl2pPr>
            <a:lvl3pPr>
              <a:defRPr sz="950">
                <a:latin typeface="Arial Narrow" charset="0"/>
                <a:ea typeface="Arial Narrow" charset="0"/>
                <a:cs typeface="Arial Narrow" charset="0"/>
              </a:defRPr>
            </a:lvl3pPr>
            <a:lvl4pPr>
              <a:defRPr sz="950">
                <a:latin typeface="Arial Narrow" charset="0"/>
                <a:ea typeface="Arial Narrow" charset="0"/>
                <a:cs typeface="Arial Narrow" charset="0"/>
              </a:defRPr>
            </a:lvl4pPr>
            <a:lvl5pPr>
              <a:defRPr sz="950">
                <a:latin typeface="Arial Narrow" charset="0"/>
                <a:ea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76742438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Big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hasCustomPrompt="1"/>
          </p:nvPr>
        </p:nvSpPr>
        <p:spPr>
          <a:xfrm>
            <a:off x="317350" y="1464423"/>
            <a:ext cx="4553195" cy="4339737"/>
          </a:xfrm>
        </p:spPr>
        <p:txBody>
          <a:bodyPr/>
          <a:lstStyle>
            <a:lvl1pPr>
              <a:defRPr sz="3750" b="0" i="0">
                <a:latin typeface="Arial Regular" charset="0"/>
                <a:cs typeface="Arial Regular" charset="0"/>
              </a:defRPr>
            </a:lvl1pPr>
          </a:lstStyle>
          <a:p>
            <a:pPr lvl="0"/>
            <a:r>
              <a:rPr lang="en-US"/>
              <a:t>This is a quote or a call-out message.</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hasCustomPrompt="1"/>
          </p:nvPr>
        </p:nvSpPr>
        <p:spPr>
          <a:xfrm>
            <a:off x="5325131" y="1464423"/>
            <a:ext cx="3482320" cy="4339484"/>
          </a:xfrm>
        </p:spPr>
        <p:txBody>
          <a:bodyPr/>
          <a:lstStyle>
            <a:lvl1pPr>
              <a:defRPr sz="2000" b="0" i="0" baseline="0">
                <a:latin typeface="Arial Regular" charset="0"/>
                <a:cs typeface="Arial Regular" charset="0"/>
              </a:defRPr>
            </a:lvl1pPr>
            <a:lvl2pPr marL="171450" indent="-171450">
              <a:buFont typeface="Arial"/>
              <a:buChar char="•"/>
              <a:defRPr sz="1000"/>
            </a:lvl2pPr>
          </a:lstStyle>
          <a:p>
            <a:pPr lvl="0"/>
            <a:r>
              <a:rPr lang="en-US"/>
              <a:t>Play with your available ratios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25295205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white plain">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669430039"/>
      </p:ext>
    </p:extLst>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chemeClr val="tx1"/>
                </a:solidFill>
              </a:defRPr>
            </a:lvl1pPr>
          </a:lstStyle>
          <a:p>
            <a:fld id="{BDDC3DCF-E0A7-DA4A-BC2C-1EC3743A297B}" type="slidenum">
              <a:rPr lang="en-US" smtClean="0"/>
              <a:t>‹#›</a:t>
            </a:fld>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891646557"/>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Image Big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23699"/>
            <a:ext cx="7315200" cy="1201846"/>
          </a:xfrm>
        </p:spPr>
        <p:txBody>
          <a:bodyPr lIns="0" tIns="0" rIns="0" bIns="0"/>
          <a:lstStyle>
            <a:lvl1pPr>
              <a:lnSpc>
                <a:spcPct val="90000"/>
              </a:lnSpc>
              <a:defRPr sz="375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3562764503"/>
      </p:ext>
    </p:extLst>
  </p:cSld>
  <p:clrMapOvr>
    <a:overrideClrMapping bg1="lt1" tx1="dk1" bg2="lt2" tx2="dk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46682"/>
          </a:xfrm>
        </p:spPr>
        <p:txBody>
          <a:bodyPr lIns="0" tIns="0" rIns="0" bIns="0"/>
          <a:lstStyle>
            <a:lvl1pPr>
              <a:lnSpc>
                <a:spcPct val="95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1252172468"/>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black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98520"/>
          </a:xfrm>
        </p:spPr>
        <p:txBody>
          <a:bodyPr lIns="0" tIns="0" rIns="0" bIns="0"/>
          <a:lstStyle>
            <a:lvl1pPr>
              <a:lnSpc>
                <a:spcPct val="90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rgbClr val="FFFFFF"/>
                </a:solidFill>
              </a:defRPr>
            </a:lvl1p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
        <p:nvSpPr>
          <p:cNvPr id="9" name="Rectangle 8"/>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1553617672"/>
      </p:ext>
    </p:extLst>
  </p:cSld>
  <p:clrMapOvr>
    <a:overrideClrMapping bg1="dk1" tx1="lt1" bg2="dk2" tx2="lt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4796298"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97922647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s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855797"/>
          </a:xfrm>
        </p:spPr>
        <p:txBody>
          <a:bodyPr/>
          <a:lstStyle>
            <a:lvl1pPr>
              <a:defRPr sz="1400" b="0" i="0">
                <a:solidFill>
                  <a:schemeClr val="tx1"/>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2281526"/>
            <a:ext cx="4011613" cy="2935710"/>
          </a:xfrm>
        </p:spPr>
        <p:txBody>
          <a:bodyPr anchor="ctr"/>
          <a:lstStyle>
            <a:lvl1pPr algn="ctr">
              <a:defRPr/>
            </a:lvl1pPr>
          </a:lstStyle>
          <a:p>
            <a:endParaRPr lang="en-US"/>
          </a:p>
        </p:txBody>
      </p:sp>
      <p:sp>
        <p:nvSpPr>
          <p:cNvPr id="10" name="Text Placeholder 9"/>
          <p:cNvSpPr>
            <a:spLocks noGrp="1"/>
          </p:cNvSpPr>
          <p:nvPr>
            <p:ph type="body" sz="quarter" idx="15"/>
          </p:nvPr>
        </p:nvSpPr>
        <p:spPr>
          <a:xfrm>
            <a:off x="320675" y="2000538"/>
            <a:ext cx="4008438" cy="280988"/>
          </a:xfrm>
        </p:spPr>
        <p:txBody>
          <a:bodyPr/>
          <a:lstStyle>
            <a:lvl1pPr algn="ctr">
              <a:defRPr sz="1000">
                <a:solidFill>
                  <a:srgbClr val="000000"/>
                </a:solidFill>
              </a:defRPr>
            </a:lvl1pPr>
          </a:lstStyle>
          <a:p>
            <a:pPr lvl="0"/>
            <a:r>
              <a:rPr lang="en-US"/>
              <a:t>Click to edit Master text styles</a:t>
            </a:r>
          </a:p>
        </p:txBody>
      </p:sp>
      <p:sp>
        <p:nvSpPr>
          <p:cNvPr id="11" name="Picture Placeholder 7"/>
          <p:cNvSpPr>
            <a:spLocks noGrp="1"/>
          </p:cNvSpPr>
          <p:nvPr>
            <p:ph type="pic" sz="quarter" idx="16"/>
          </p:nvPr>
        </p:nvSpPr>
        <p:spPr>
          <a:xfrm>
            <a:off x="4803725" y="2281526"/>
            <a:ext cx="4011613" cy="2935710"/>
          </a:xfrm>
        </p:spPr>
        <p:txBody>
          <a:bodyPr anchor="ctr"/>
          <a:lstStyle>
            <a:lvl1pPr algn="ctr">
              <a:defRPr/>
            </a:lvl1pPr>
          </a:lstStyle>
          <a:p>
            <a:endParaRPr lang="en-US"/>
          </a:p>
        </p:txBody>
      </p:sp>
      <p:sp>
        <p:nvSpPr>
          <p:cNvPr id="12" name="Text Placeholder 9"/>
          <p:cNvSpPr>
            <a:spLocks noGrp="1"/>
          </p:cNvSpPr>
          <p:nvPr>
            <p:ph type="body" sz="quarter" idx="17"/>
          </p:nvPr>
        </p:nvSpPr>
        <p:spPr>
          <a:xfrm>
            <a:off x="4806900" y="2000538"/>
            <a:ext cx="4008438" cy="280988"/>
          </a:xfrm>
        </p:spPr>
        <p:txBody>
          <a:bodyPr/>
          <a:lstStyle>
            <a:lvl1pPr algn="ctr">
              <a:defRPr sz="1000">
                <a:solidFill>
                  <a:srgbClr val="000000"/>
                </a:solidFill>
              </a:defRPr>
            </a:lvl1pPr>
          </a:lstStyle>
          <a:p>
            <a:pPr lvl="0"/>
            <a:r>
              <a:rPr lang="en-US"/>
              <a:t>Click to edit Master text styles</a:t>
            </a:r>
          </a:p>
        </p:txBody>
      </p:sp>
      <p:sp>
        <p:nvSpPr>
          <p:cNvPr id="14" name="Text Placeholder 13"/>
          <p:cNvSpPr>
            <a:spLocks noGrp="1"/>
          </p:cNvSpPr>
          <p:nvPr>
            <p:ph type="body" sz="quarter" idx="18"/>
          </p:nvPr>
        </p:nvSpPr>
        <p:spPr>
          <a:xfrm>
            <a:off x="320675" y="5403972"/>
            <a:ext cx="8500220" cy="583922"/>
          </a:xfrm>
        </p:spPr>
        <p:txBody>
          <a:bodyPr anchor="b"/>
          <a:lstStyle>
            <a:lvl1pPr>
              <a:defRPr sz="950" b="0" i="0">
                <a:solidFill>
                  <a:schemeClr val="tx1"/>
                </a:solidFill>
                <a:latin typeface="Arial Narrow" charset="0"/>
                <a:ea typeface="Arial Narrow" charset="0"/>
                <a:cs typeface="Arial Narrow" charset="0"/>
              </a:defRPr>
            </a:lvl1pPr>
            <a:lvl2pPr>
              <a:defRPr sz="950" b="0" i="0">
                <a:solidFill>
                  <a:schemeClr val="tx1"/>
                </a:solidFill>
                <a:latin typeface="Arial Narrow" charset="0"/>
                <a:ea typeface="Arial Narrow" charset="0"/>
                <a:cs typeface="Arial Narrow" charset="0"/>
              </a:defRPr>
            </a:lvl2pPr>
            <a:lvl3pPr>
              <a:defRPr sz="95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9058836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063782"/>
            <a:ext cx="8503543" cy="4727418"/>
          </a:xfrm>
        </p:spPr>
        <p:txBody>
          <a:bodyPr/>
          <a:lstStyle>
            <a:lvl1pPr>
              <a:defRPr sz="950" b="0" i="0">
                <a:latin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cs typeface="Arial Narrow" charset="0"/>
              </a:defRPr>
            </a:lvl2pPr>
            <a:lvl3pPr>
              <a:defRPr sz="950">
                <a:latin typeface="Arial Narrow" charset="0"/>
                <a:cs typeface="Arial Narrow" charset="0"/>
              </a:defRPr>
            </a:lvl3pPr>
            <a:lvl4pPr>
              <a:defRPr sz="950">
                <a:latin typeface="Arial Narrow" charset="0"/>
                <a:cs typeface="Arial Narrow" charset="0"/>
              </a:defRPr>
            </a:lvl4pPr>
            <a:lvl5pPr>
              <a:defRPr sz="950">
                <a:latin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36198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1635106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uthor inf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5" name="Content Placeholder 5"/>
          <p:cNvSpPr>
            <a:spLocks noGrp="1"/>
          </p:cNvSpPr>
          <p:nvPr>
            <p:ph sz="quarter" idx="13" hasCustomPrompt="1"/>
          </p:nvPr>
        </p:nvSpPr>
        <p:spPr>
          <a:xfrm>
            <a:off x="320675" y="4076095"/>
            <a:ext cx="3482320" cy="1727812"/>
          </a:xfrm>
        </p:spPr>
        <p:txBody>
          <a:bodyPr/>
          <a:lstStyle>
            <a:lvl1pPr>
              <a:defRPr sz="2000" b="0" i="0" baseline="0">
                <a:latin typeface="Arial Regular" charset="0"/>
                <a:cs typeface="Arial Regular" charset="0"/>
              </a:defRPr>
            </a:lvl1pPr>
            <a:lvl2pPr marL="0" indent="0">
              <a:buFont typeface="Arial"/>
              <a:buNone/>
              <a:defRPr sz="2000"/>
            </a:lvl2pPr>
          </a:lstStyle>
          <a:p>
            <a:pPr lvl="0"/>
            <a:r>
              <a:rPr lang="en-US"/>
              <a:t>Author’s Name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78957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27012" y="1233487"/>
            <a:ext cx="8688387" cy="4686301"/>
          </a:xfrm>
          <a:ln cap="flat">
            <a:miter lim="800000"/>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4"/>
          </p:nvPr>
        </p:nvSpPr>
        <p:spPr/>
        <p:txBody>
          <a:bodyPr/>
          <a:lstStyle/>
          <a:p>
            <a:endParaRPr lang="en-US"/>
          </a:p>
        </p:txBody>
      </p:sp>
      <p:sp>
        <p:nvSpPr>
          <p:cNvPr id="7" name="Footer Placeholder 6"/>
          <p:cNvSpPr>
            <a:spLocks noGrp="1"/>
          </p:cNvSpPr>
          <p:nvPr>
            <p:ph type="ftr" sz="quarter" idx="15"/>
          </p:nvPr>
        </p:nvSpPr>
        <p:spPr/>
        <p:txBody>
          <a:bodyPr/>
          <a:lstStyle/>
          <a:p>
            <a:r>
              <a:rPr lang="en-US"/>
              <a:t>Private &amp; Confidential</a:t>
            </a:r>
          </a:p>
        </p:txBody>
      </p:sp>
      <p:sp>
        <p:nvSpPr>
          <p:cNvPr id="8" name="Slide Number Placeholder 7"/>
          <p:cNvSpPr>
            <a:spLocks noGrp="1"/>
          </p:cNvSpPr>
          <p:nvPr>
            <p:ph type="sldNum" sz="quarter" idx="16"/>
          </p:nvPr>
        </p:nvSpPr>
        <p:spPr/>
        <p:txBody>
          <a:bodyPr/>
          <a:lstStyle/>
          <a:p>
            <a:fld id="{146682E1-A610-4FB0-BCC6-241ABE41C99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587943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4102570"/>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5606722"/>
            <a:ext cx="8503920" cy="385298"/>
          </a:xfrm>
        </p:spPr>
        <p:txBody>
          <a:bodyPr vert="horz" lIns="0" tIns="0" rIns="0" bIns="0" rtlCol="0" anchor="b">
            <a:noAutofit/>
          </a:bodyPr>
          <a:lstStyle>
            <a:lvl1pPr>
              <a:defRPr lang="en-US" sz="950" b="0" i="0" smtClean="0">
                <a:solidFill>
                  <a:schemeClr val="tx1"/>
                </a:solidFill>
                <a:latin typeface="Arial Narrow" charset="0"/>
                <a:ea typeface="Arial Narrow" charset="0"/>
                <a:cs typeface="Arial Narrow" charset="0"/>
              </a:defRPr>
            </a:lvl1pPr>
            <a:lvl2pPr>
              <a:defRPr lang="en-US" sz="950" b="0" i="0" smtClean="0">
                <a:solidFill>
                  <a:schemeClr val="tx1"/>
                </a:solidFill>
                <a:latin typeface="Arial Narrow" charset="0"/>
                <a:ea typeface="Arial Narrow" charset="0"/>
                <a:cs typeface="Arial Narrow" charset="0"/>
              </a:defRPr>
            </a:lvl2pPr>
            <a:lvl3pPr>
              <a:defRPr lang="en-US" sz="950" b="0" i="0" smtClean="0">
                <a:solidFill>
                  <a:schemeClr val="tx1"/>
                </a:solidFill>
                <a:latin typeface="Arial Narrow" charset="0"/>
                <a:ea typeface="Arial Narrow" charset="0"/>
                <a:cs typeface="Arial Narrow" charset="0"/>
              </a:defRPr>
            </a:lvl3pPr>
            <a:lvl4pPr>
              <a:defRPr lang="en-US" sz="950" b="0" i="0" smtClean="0">
                <a:solidFill>
                  <a:schemeClr val="tx1"/>
                </a:solidFill>
                <a:latin typeface="Arial Narrow" charset="0"/>
                <a:ea typeface="Arial Narrow" charset="0"/>
                <a:cs typeface="Arial Narrow" charset="0"/>
              </a:defRPr>
            </a:lvl4pPr>
            <a:lvl5pPr>
              <a:defRPr lang="en-US" sz="950" b="0" i="0">
                <a:solidFill>
                  <a:schemeClr val="tx1"/>
                </a:solidFill>
                <a:latin typeface="Arial Narrow" charset="0"/>
                <a:ea typeface="Arial Narrow" charset="0"/>
                <a:cs typeface="Arial Narrow" charset="0"/>
              </a:defRPr>
            </a:lvl5pPr>
          </a:lstStyle>
          <a:p>
            <a:pPr lvl="0"/>
            <a:r>
              <a:rPr lang="en-US"/>
              <a:t>Click to edit Master text styles</a:t>
            </a:r>
          </a:p>
          <a:p>
            <a:pPr lvl="1"/>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466525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wShort copy &amp; 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565571"/>
          </a:xfrm>
        </p:spPr>
        <p:txBody>
          <a:bodyPr/>
          <a:lstStyle>
            <a:lvl1pPr>
              <a:defRPr sz="1400" b="0" i="0">
                <a:solidFill>
                  <a:srgbClr val="7F7F7F"/>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1914528"/>
            <a:ext cx="8504238" cy="3822676"/>
          </a:xfrm>
        </p:spPr>
        <p:txBody>
          <a:bodyPr anchor="ctr"/>
          <a:lstStyle>
            <a:lvl1pPr algn="ctr">
              <a:defRPr/>
            </a:lvl1pPr>
          </a:lstStyle>
          <a:p>
            <a:endParaRPr lang="en-US"/>
          </a:p>
        </p:txBody>
      </p:sp>
      <p:sp>
        <p:nvSpPr>
          <p:cNvPr id="14" name="Text Placeholder 13"/>
          <p:cNvSpPr>
            <a:spLocks noGrp="1"/>
          </p:cNvSpPr>
          <p:nvPr>
            <p:ph type="body" sz="quarter" idx="18"/>
          </p:nvPr>
        </p:nvSpPr>
        <p:spPr>
          <a:xfrm>
            <a:off x="320675" y="5839310"/>
            <a:ext cx="8500220" cy="148584"/>
          </a:xfrm>
        </p:spPr>
        <p:txBody>
          <a:bodyPr anchor="b"/>
          <a:lstStyle>
            <a:lvl1pPr>
              <a:defRPr sz="800" b="0" i="0">
                <a:solidFill>
                  <a:schemeClr val="tx1"/>
                </a:solidFill>
                <a:latin typeface="Arial Narrow" charset="0"/>
                <a:ea typeface="Arial Narrow" charset="0"/>
                <a:cs typeface="Arial Narrow" charset="0"/>
              </a:defRPr>
            </a:lvl1pPr>
            <a:lvl2pPr>
              <a:defRPr sz="800" b="0" i="0">
                <a:solidFill>
                  <a:schemeClr val="tx1"/>
                </a:solidFill>
                <a:latin typeface="Arial Narrow" charset="0"/>
                <a:ea typeface="Arial Narrow" charset="0"/>
                <a:cs typeface="Arial Narrow" charset="0"/>
              </a:defRPr>
            </a:lvl2pPr>
            <a:lvl3pPr>
              <a:defRPr sz="80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
        <p:nvSpPr>
          <p:cNvPr id="13" name="Text Placeholder 9"/>
          <p:cNvSpPr>
            <a:spLocks noGrp="1"/>
          </p:cNvSpPr>
          <p:nvPr>
            <p:ph type="body" sz="quarter" idx="19"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1537392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7352" y="217143"/>
            <a:ext cx="8119382" cy="792575"/>
          </a:xfrm>
          <a:prstGeom prst="rect">
            <a:avLst/>
          </a:prstGeom>
        </p:spPr>
        <p:txBody>
          <a:bodyPr vert="horz" lIns="0" tIns="0" rIns="0" bIns="0" rtlCol="0" anchor="t">
            <a:noAutofit/>
          </a:bodyPr>
          <a:lstStyle/>
          <a:p>
            <a:r>
              <a:rPr lang="en-US"/>
              <a:t>Title (sentence case), 28 point Arial</a:t>
            </a:r>
          </a:p>
        </p:txBody>
      </p:sp>
      <p:sp>
        <p:nvSpPr>
          <p:cNvPr id="3" name="Text Placeholder 2"/>
          <p:cNvSpPr>
            <a:spLocks noGrp="1"/>
          </p:cNvSpPr>
          <p:nvPr>
            <p:ph type="body" idx="1"/>
          </p:nvPr>
        </p:nvSpPr>
        <p:spPr>
          <a:xfrm>
            <a:off x="317352" y="1818458"/>
            <a:ext cx="8503543" cy="3297454"/>
          </a:xfrm>
          <a:prstGeom prst="rect">
            <a:avLst/>
          </a:prstGeom>
        </p:spPr>
        <p:txBody>
          <a:bodyPr vert="horz" lIns="0" tIns="0" rIns="0" bIns="0" rtlCol="0">
            <a:noAutofit/>
          </a:bodyPr>
          <a:lstStyle/>
          <a:p>
            <a:pPr lvl="0"/>
            <a:r>
              <a:rPr lang="en-US"/>
              <a:t>Level 1, normal body text is set at 20pt Arial Bold</a:t>
            </a:r>
          </a:p>
          <a:p>
            <a:pPr marL="0" marR="0" lvl="1" indent="-182880" algn="l" defTabSz="457200" rtl="0" eaLnBrk="1" fontAlgn="auto" latinLnBrk="0" hangingPunct="1">
              <a:lnSpc>
                <a:spcPct val="100000"/>
              </a:lnSpc>
              <a:spcBef>
                <a:spcPts val="500"/>
              </a:spcBef>
              <a:spcAft>
                <a:spcPct val="0"/>
              </a:spcAft>
              <a:buClrTx/>
              <a:buSzTx/>
              <a:buFont typeface="Arial"/>
              <a:buChar char="•"/>
              <a:defRPr/>
            </a:pPr>
            <a:r>
              <a:rPr lang="en-US"/>
              <a:t>Level 2 Body text can be Regular or Bold. </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5430085" y="6441391"/>
            <a:ext cx="2926181" cy="223277"/>
          </a:xfrm>
          <a:prstGeom prst="rect">
            <a:avLst/>
          </a:prstGeom>
        </p:spPr>
        <p:txBody>
          <a:bodyPr vert="horz" lIns="0" tIns="0" rIns="0" bIns="0" rtlCol="0" anchor="t"/>
          <a:lstStyle>
            <a:lvl1pPr algn="r">
              <a:defRPr sz="950" b="0" i="0">
                <a:solidFill>
                  <a:schemeClr val="bg1">
                    <a:lumMod val="50000"/>
                  </a:schemeClr>
                </a:solidFill>
                <a:latin typeface="Arial Regular" charset="0"/>
                <a:cs typeface="Arial Regular" charset="0"/>
              </a:defRPr>
            </a:lvl1pPr>
          </a:lstStyle>
          <a:p>
            <a:r>
              <a:rPr lang="en-US"/>
              <a:t>Private &amp; Confidential</a:t>
            </a:r>
          </a:p>
        </p:txBody>
      </p:sp>
      <p:sp>
        <p:nvSpPr>
          <p:cNvPr id="6" name="Slide Number Placeholder 5"/>
          <p:cNvSpPr>
            <a:spLocks noGrp="1"/>
          </p:cNvSpPr>
          <p:nvPr>
            <p:ph type="sldNum" sz="quarter" idx="4"/>
          </p:nvPr>
        </p:nvSpPr>
        <p:spPr>
          <a:xfrm>
            <a:off x="8615082" y="6435042"/>
            <a:ext cx="205813" cy="254684"/>
          </a:xfrm>
          <a:prstGeom prst="rect">
            <a:avLst/>
          </a:prstGeom>
        </p:spPr>
        <p:txBody>
          <a:bodyPr vert="horz" lIns="0" tIns="0" rIns="0" bIns="0" rtlCol="0" anchor="t"/>
          <a:lstStyle>
            <a:lvl1pPr algn="r">
              <a:defRPr sz="1000" b="0" i="0">
                <a:solidFill>
                  <a:srgbClr val="000000"/>
                </a:solidFill>
                <a:latin typeface="Arial Regular" charset="0"/>
                <a:cs typeface="Arial Regular" charset="0"/>
              </a:defRPr>
            </a:lvl1pPr>
          </a:lstStyle>
          <a:p>
            <a:fld id="{BDDC3DCF-E0A7-DA4A-BC2C-1EC3743A297B}" type="slidenum">
              <a:rPr lang="en-US" smtClean="0"/>
              <a:t>‹#›</a:t>
            </a:fld>
            <a:endParaRPr lang="en-US"/>
          </a:p>
        </p:txBody>
      </p:sp>
      <p:cxnSp>
        <p:nvCxnSpPr>
          <p:cNvPr id="7" name="Straight Connector 6"/>
          <p:cNvCxnSpPr/>
          <p:nvPr userDrawn="1"/>
        </p:nvCxnSpPr>
        <p:spPr>
          <a:xfrm flipH="1">
            <a:off x="-1160034" y="5995120"/>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1160034" y="5855951"/>
            <a:ext cx="1100193" cy="142555"/>
          </a:xfrm>
          <a:prstGeom prst="rect">
            <a:avLst/>
          </a:prstGeom>
          <a:noFill/>
        </p:spPr>
        <p:txBody>
          <a:bodyPr wrap="square" lIns="0" tIns="0" rIns="0" bIns="0" rtlCol="0">
            <a:noAutofit/>
          </a:bodyPr>
          <a:lstStyle/>
          <a:p>
            <a:pPr algn="r"/>
            <a:r>
              <a:rPr lang="en-US" sz="800">
                <a:solidFill>
                  <a:schemeClr val="bg2">
                    <a:lumMod val="50000"/>
                  </a:schemeClr>
                </a:solidFill>
              </a:rPr>
              <a:t>No content below the line</a:t>
            </a:r>
          </a:p>
        </p:txBody>
      </p:sp>
      <p:cxnSp>
        <p:nvCxnSpPr>
          <p:cNvPr id="11" name="Straight Connector 10"/>
          <p:cNvCxnSpPr/>
          <p:nvPr userDrawn="1"/>
        </p:nvCxnSpPr>
        <p:spPr>
          <a:xfrm flipH="1">
            <a:off x="9215269" y="5993538"/>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9215269" y="5854369"/>
            <a:ext cx="1100193" cy="142555"/>
          </a:xfrm>
          <a:prstGeom prst="rect">
            <a:avLst/>
          </a:prstGeom>
          <a:noFill/>
        </p:spPr>
        <p:txBody>
          <a:bodyPr wrap="square" lIns="0" tIns="0" rIns="0" bIns="0" rtlCol="0">
            <a:noAutofit/>
          </a:bodyPr>
          <a:lstStyle/>
          <a:p>
            <a:pPr algn="l"/>
            <a:r>
              <a:rPr lang="en-US" sz="800">
                <a:solidFill>
                  <a:schemeClr val="bg2">
                    <a:lumMod val="50000"/>
                  </a:schemeClr>
                </a:solidFill>
              </a:rPr>
              <a:t>No content below the line</a:t>
            </a:r>
          </a:p>
        </p:txBody>
      </p:sp>
      <p:sp>
        <p:nvSpPr>
          <p:cNvPr id="15" name="Date Placeholder 14"/>
          <p:cNvSpPr>
            <a:spLocks noGrp="1"/>
          </p:cNvSpPr>
          <p:nvPr>
            <p:ph type="dt" sz="half" idx="2"/>
          </p:nvPr>
        </p:nvSpPr>
        <p:spPr>
          <a:xfrm>
            <a:off x="6421439" y="1100212"/>
            <a:ext cx="2386012" cy="223277"/>
          </a:xfrm>
          <a:prstGeom prst="rect">
            <a:avLst/>
          </a:prstGeom>
        </p:spPr>
        <p:txBody>
          <a:bodyPr vert="horz" lIns="0" tIns="0" rIns="0" bIns="0" rtlCol="0" anchor="t"/>
          <a:lstStyle>
            <a:lvl1pPr algn="l">
              <a:defRPr lang="en-US" sz="1000" b="0" i="0" smtClean="0">
                <a:solidFill>
                  <a:srgbClr val="000000"/>
                </a:solidFill>
                <a:latin typeface="Arial Regular" charset="0"/>
                <a:cs typeface="Arial Regular" charset="0"/>
              </a:defRPr>
            </a:lvl1pPr>
          </a:lstStyle>
          <a:p>
            <a:endParaRPr lang="en-US"/>
          </a:p>
        </p:txBody>
      </p:sp>
      <p:sp>
        <p:nvSpPr>
          <p:cNvPr id="13" name="Rectangle 12"/>
          <p:cNvSpPr/>
          <p:nvPr userDrawn="1"/>
        </p:nvSpPr>
        <p:spPr>
          <a:xfrm>
            <a:off x="171061" y="6013061"/>
            <a:ext cx="2068286" cy="7101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3">
            <a:extLst>
              <a:ext uri="{28A0092B-C50C-407E-A947-70E740481C1C}">
                <a14:useLocalDpi xmlns:a14="http://schemas.microsoft.com/office/drawing/2010/main"/>
              </a:ext>
            </a:extLst>
          </a:blip>
          <a:stretch>
            <a:fillRect/>
          </a:stretch>
        </p:blipFill>
        <p:spPr>
          <a:xfrm>
            <a:off x="317352" y="6117205"/>
            <a:ext cx="963930" cy="461010"/>
          </a:xfrm>
          <a:prstGeom prst="rect">
            <a:avLst/>
          </a:prstGeom>
        </p:spPr>
      </p:pic>
    </p:spTree>
    <p:extLst>
      <p:ext uri="{BB962C8B-B14F-4D97-AF65-F5344CB8AC3E}">
        <p14:creationId xmlns:p14="http://schemas.microsoft.com/office/powerpoint/2010/main" val="2965970304"/>
      </p:ext>
    </p:extLst>
  </p:cSld>
  <p:clrMap bg1="lt1" tx1="dk1" bg2="lt2" tx2="dk2" accent1="accent1" accent2="accent2" accent3="accent3" accent4="accent4" accent5="accent5" accent6="accent6" hlink="hlink" folHlink="folHlink"/>
  <p:sldLayoutIdLst>
    <p:sldLayoutId id="2147484144" r:id="rId1"/>
    <p:sldLayoutId id="2147484146" r:id="rId2"/>
    <p:sldLayoutId id="2147484147" r:id="rId3"/>
    <p:sldLayoutId id="2147484148" r:id="rId4"/>
    <p:sldLayoutId id="2147484149" r:id="rId5"/>
    <p:sldLayoutId id="2147484143" r:id="rId6"/>
    <p:sldLayoutId id="2147484159" r:id="rId7"/>
    <p:sldLayoutId id="2147484150" r:id="rId8"/>
    <p:sldLayoutId id="2147484151" r:id="rId9"/>
    <p:sldLayoutId id="2147484152" r:id="rId10"/>
    <p:sldLayoutId id="2147484154" r:id="rId11"/>
    <p:sldLayoutId id="2147484155" r:id="rId12"/>
    <p:sldLayoutId id="2147484156" r:id="rId13"/>
    <p:sldLayoutId id="2147484157" r:id="rId14"/>
    <p:sldLayoutId id="2147484158" r:id="rId15"/>
    <p:sldLayoutId id="2147484160" r:id="rId16"/>
    <p:sldLayoutId id="2147484145" r:id="rId17"/>
    <p:sldLayoutId id="2147484161" r:id="rId18"/>
    <p:sldLayoutId id="2147484163" r:id="rId19"/>
    <p:sldLayoutId id="2147484164" r:id="rId20"/>
    <p:sldLayoutId id="2147484165" r:id="rId21"/>
  </p:sldLayoutIdLst>
  <p:transition/>
  <p:hf hdr="0" dt="0"/>
  <p:txStyles>
    <p:titleStyle>
      <a:lvl1pPr algn="l" defTabSz="457200" rtl="0" eaLnBrk="1" latinLnBrk="0" hangingPunct="1">
        <a:spcBef>
          <a:spcPct val="0"/>
        </a:spcBef>
        <a:buNone/>
        <a:defRPr sz="2800" b="1" i="0" kern="1200" baseline="0">
          <a:solidFill>
            <a:schemeClr val="tx1"/>
          </a:solidFill>
          <a:latin typeface="Arial"/>
          <a:ea typeface="Arial"/>
          <a:cs typeface="Arial"/>
        </a:defRPr>
      </a:lvl1pPr>
    </p:titleStyle>
    <p:bodyStyle>
      <a:lvl1pPr marL="0" indent="0" algn="l" defTabSz="457200" rtl="0" eaLnBrk="1" latinLnBrk="0" hangingPunct="1">
        <a:spcBef>
          <a:spcPts val="500"/>
        </a:spcBef>
        <a:buFont typeface="Arial"/>
        <a:buNone/>
        <a:defRPr sz="2000" b="1" i="0" kern="1200" baseline="0">
          <a:solidFill>
            <a:schemeClr val="tx1"/>
          </a:solidFill>
          <a:latin typeface="Arial"/>
          <a:ea typeface="Arial"/>
          <a:cs typeface="Arial"/>
        </a:defRPr>
      </a:lvl1pPr>
      <a:lvl2pPr marL="182880" marR="0" indent="-182880" algn="l" defTabSz="457200" rtl="0" eaLnBrk="1" fontAlgn="auto" latinLnBrk="0" hangingPunct="1">
        <a:lnSpc>
          <a:spcPct val="100000"/>
        </a:lnSpc>
        <a:spcBef>
          <a:spcPts val="500"/>
        </a:spcBef>
        <a:spcAft>
          <a:spcPct val="0"/>
        </a:spcAft>
        <a:buClrTx/>
        <a:buSzTx/>
        <a:buFont typeface="Arial"/>
        <a:buChar char="•"/>
        <a:defRPr sz="2000" b="1" i="0" kern="1200">
          <a:solidFill>
            <a:schemeClr val="tx1"/>
          </a:solidFill>
          <a:latin typeface="Arial"/>
          <a:ea typeface="Arial"/>
          <a:cs typeface="Arial"/>
        </a:defRPr>
      </a:lvl2pPr>
      <a:lvl3pPr marL="393192" indent="-182880" algn="l" defTabSz="457200" rtl="0" eaLnBrk="1" latinLnBrk="0" hangingPunct="1">
        <a:spcBef>
          <a:spcPts val="600"/>
        </a:spcBef>
        <a:buFont typeface=".AppleSystemUIFont" charset="-120"/>
        <a:buChar char="-"/>
        <a:defRPr sz="1350" b="1" i="0" kern="1200">
          <a:solidFill>
            <a:schemeClr val="tx1"/>
          </a:solidFill>
          <a:latin typeface="Arial"/>
          <a:ea typeface="Arial"/>
          <a:cs typeface="Arial"/>
        </a:defRPr>
      </a:lvl3pPr>
      <a:lvl4pPr marL="603504" indent="-182880" algn="l" defTabSz="457200" rtl="0" eaLnBrk="1" latinLnBrk="0" hangingPunct="1">
        <a:spcBef>
          <a:spcPts val="500"/>
        </a:spcBef>
        <a:buSzTx/>
        <a:buFont typeface=".AppleSystemUIFont" charset="-120"/>
        <a:buChar char="-"/>
        <a:defRPr sz="1350" b="1" i="0" kern="1200">
          <a:solidFill>
            <a:schemeClr val="tx1"/>
          </a:solidFill>
          <a:latin typeface="Arial"/>
          <a:ea typeface="Arial"/>
          <a:cs typeface="Arial"/>
        </a:defRPr>
      </a:lvl4pPr>
      <a:lvl5pPr marL="822960" indent="-182880" algn="l" defTabSz="457200" rtl="0" eaLnBrk="1" latinLnBrk="0" hangingPunct="1">
        <a:spcBef>
          <a:spcPts val="500"/>
        </a:spcBef>
        <a:buFont typeface=".AppleSystemUIFont" charset="-120"/>
        <a:buChar char="-"/>
        <a:defRPr sz="1350" b="1" i="0" kern="1200">
          <a:solidFill>
            <a:schemeClr val="tx1"/>
          </a:solidFill>
          <a:latin typeface="Arial"/>
          <a:ea typeface="Arial"/>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298846"/>
            <a:ext cx="5218888" cy="573024"/>
          </a:xfrm>
        </p:spPr>
        <p:txBody>
          <a:bodyPr>
            <a:noAutofit/>
          </a:bodyPr>
          <a:lstStyle/>
          <a:p>
            <a:r>
              <a:rPr lang="en-US" sz="2800" b="1">
                <a:solidFill>
                  <a:srgbClr val="FF0000"/>
                </a:solidFill>
              </a:rPr>
              <a:t>RS-INS-GLB-R-001116-V001</a:t>
            </a:r>
            <a:br>
              <a:rPr lang="en-US" sz="2800" b="1">
                <a:solidFill>
                  <a:srgbClr val="FF0000"/>
                </a:solidFill>
              </a:rPr>
            </a:br>
            <a:br>
              <a:rPr lang="en-US" sz="2800" b="1">
                <a:solidFill>
                  <a:srgbClr val="FF0000"/>
                </a:solidFill>
              </a:rPr>
            </a:br>
            <a:r>
              <a:rPr lang="en-US" sz="2800" b="1">
                <a:solidFill>
                  <a:srgbClr val="FF0000"/>
                </a:solidFill>
              </a:rPr>
              <a:t>IICRA RSR (R)</a:t>
            </a:r>
          </a:p>
        </p:txBody>
      </p:sp>
      <p:sp>
        <p:nvSpPr>
          <p:cNvPr id="3" name="Text Placeholder 2"/>
          <p:cNvSpPr>
            <a:spLocks noGrp="1"/>
          </p:cNvSpPr>
          <p:nvPr>
            <p:ph type="body" sz="quarter" idx="12"/>
          </p:nvPr>
        </p:nvSpPr>
        <p:spPr>
          <a:xfrm>
            <a:off x="246247" y="1956391"/>
            <a:ext cx="4257351" cy="306567"/>
          </a:xfrm>
        </p:spPr>
        <p:txBody>
          <a:bodyPr/>
          <a:lstStyle/>
          <a:p>
            <a:r>
              <a:rPr lang="en-US" sz="1400"/>
              <a:t>July 16, 2026</a:t>
            </a:r>
          </a:p>
          <a:p>
            <a:endParaRPr lang="en-US"/>
          </a:p>
          <a:p>
            <a:endParaRPr lang="en-US"/>
          </a:p>
        </p:txBody>
      </p:sp>
      <p:sp>
        <p:nvSpPr>
          <p:cNvPr id="4" name="Text Placeholder 3"/>
          <p:cNvSpPr>
            <a:spLocks noGrp="1"/>
          </p:cNvSpPr>
          <p:nvPr>
            <p:ph type="body" sz="quarter" idx="13"/>
          </p:nvPr>
        </p:nvSpPr>
        <p:spPr>
          <a:xfrm>
            <a:off x="5970494" y="298845"/>
            <a:ext cx="2829118" cy="1964113"/>
          </a:xfrm>
        </p:spPr>
        <p:txBody>
          <a:bodyPr/>
          <a:lstStyle/>
          <a:p>
            <a:r>
              <a:rPr lang="en-US" sz="1800" dirty="0"/>
              <a:t>Derek Ding</a:t>
            </a:r>
          </a:p>
          <a:p>
            <a:r>
              <a:rPr lang="en-US" sz="1800" dirty="0"/>
              <a:t>Managing Director</a:t>
            </a:r>
          </a:p>
          <a:p>
            <a:r>
              <a:rPr lang="en-US" sz="1800" dirty="0"/>
              <a:t>FS Methodologies</a:t>
            </a:r>
          </a:p>
          <a:p>
            <a:endParaRPr lang="en-US" sz="1800" dirty="0"/>
          </a:p>
          <a:p>
            <a:r>
              <a:rPr lang="en-US" sz="1800" dirty="0"/>
              <a:t>Yoji, Imashuku</a:t>
            </a:r>
          </a:p>
          <a:p>
            <a:r>
              <a:rPr lang="en-US" sz="1800"/>
              <a:t>Associate </a:t>
            </a:r>
            <a:r>
              <a:rPr lang="en-US" sz="1800" dirty="0"/>
              <a:t>Directo</a:t>
            </a:r>
          </a:p>
          <a:p>
            <a:r>
              <a:rPr lang="en-US" sz="1800" dirty="0"/>
              <a:t>AQV</a:t>
            </a:r>
          </a:p>
          <a:p>
            <a:endParaRPr lang="en-US" sz="1800" dirty="0"/>
          </a:p>
        </p:txBody>
      </p:sp>
      <p:sp>
        <p:nvSpPr>
          <p:cNvPr id="6" name="Text Placeholder 5"/>
          <p:cNvSpPr>
            <a:spLocks noGrp="1"/>
          </p:cNvSpPr>
          <p:nvPr>
            <p:ph type="body" sz="quarter" idx="15"/>
          </p:nvPr>
        </p:nvSpPr>
        <p:spPr>
          <a:xfrm>
            <a:off x="6422098" y="5698923"/>
            <a:ext cx="2377514" cy="828861"/>
          </a:xfrm>
        </p:spPr>
        <p:txBody>
          <a:bodyPr/>
          <a:lstStyle/>
          <a:p>
            <a:r>
              <a:rPr lang="en-US"/>
              <a:t>Copyright © 2016 by S&amp;P Global. </a:t>
            </a:r>
            <a:br>
              <a:rPr lang="en-US"/>
            </a:br>
            <a:r>
              <a:rPr lang="en-US"/>
              <a:t>All rights reserved.</a:t>
            </a:r>
          </a:p>
          <a:p>
            <a:r>
              <a:rPr lang="en-US"/>
              <a:t>Last update – 09/24/2024</a:t>
            </a:r>
          </a:p>
        </p:txBody>
      </p:sp>
      <p:pic>
        <p:nvPicPr>
          <p:cNvPr id="9" name="Picture Placeholder 9"/>
          <p:cNvPicPr>
            <a:picLocks noGrp="1" noChangeAspect="1"/>
          </p:cNvPicPr>
          <p:nvPr>
            <p:ph type="pic" sz="quarter" idx="16"/>
          </p:nvPr>
        </p:nvPicPr>
        <p:blipFill>
          <a:blip r:embed="rId2">
            <a:extLst>
              <a:ext uri="{28A0092B-C50C-407E-A947-70E740481C1C}">
                <a14:useLocalDpi xmlns:a14="http://schemas.microsoft.com/office/drawing/2010/main"/>
              </a:ext>
            </a:extLst>
          </a:blip>
          <a:stretch>
            <a:fillRect/>
          </a:stretch>
        </p:blipFill>
        <p:spPr>
          <a:xfrm>
            <a:off x="320675" y="2419840"/>
            <a:ext cx="8486775" cy="2284046"/>
          </a:xfrm>
        </p:spPr>
      </p:pic>
    </p:spTree>
    <p:extLst>
      <p:ext uri="{BB962C8B-B14F-4D97-AF65-F5344CB8AC3E}">
        <p14:creationId xmlns:p14="http://schemas.microsoft.com/office/powerpoint/2010/main" val="31102721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227013" y="889001"/>
            <a:ext cx="8688387" cy="5030788"/>
          </a:xfrm>
        </p:spPr>
        <p:txBody>
          <a:bodyPr/>
          <a:lstStyle/>
          <a:p>
            <a:pPr marL="457200" indent="-457200">
              <a:buAutoNum type="arabicPeriod"/>
            </a:pPr>
            <a:r>
              <a:rPr lang="en-US" sz="1800"/>
              <a:t>Executive Summary &amp; Project Background </a:t>
            </a:r>
            <a:r>
              <a:rPr lang="en-US" sz="1800">
                <a:solidFill>
                  <a:srgbClr val="FF0000"/>
                </a:solidFill>
              </a:rPr>
              <a:t>(ProjFin Models Only)</a:t>
            </a:r>
          </a:p>
          <a:p>
            <a:pPr marL="457200" indent="-457200">
              <a:buAutoNum type="arabicPeriod"/>
            </a:pPr>
            <a:r>
              <a:rPr lang="en-US" sz="1800"/>
              <a:t>Relevant Criteria Articles</a:t>
            </a:r>
          </a:p>
          <a:p>
            <a:pPr marL="457200" indent="-457200">
              <a:buAutoNum type="arabicPeriod"/>
            </a:pPr>
            <a:r>
              <a:rPr lang="en-US" sz="1800"/>
              <a:t>Development Information</a:t>
            </a:r>
          </a:p>
          <a:p>
            <a:pPr marL="457200" indent="-457200">
              <a:buAutoNum type="arabicPeriod"/>
            </a:pPr>
            <a:r>
              <a:rPr lang="en-US" sz="1800"/>
              <a:t>Access &amp; Version Controls for Model Deployment</a:t>
            </a:r>
          </a:p>
          <a:p>
            <a:pPr marL="457200" indent="-457200">
              <a:buFont typeface="Arial"/>
              <a:buAutoNum type="arabicPeriod"/>
            </a:pPr>
            <a:r>
              <a:rPr lang="en-US" sz="1800"/>
              <a:t>Key Model Assumptions</a:t>
            </a:r>
          </a:p>
          <a:p>
            <a:pPr marL="457200" indent="-457200">
              <a:buAutoNum type="arabicPeriod"/>
            </a:pPr>
            <a:r>
              <a:rPr lang="en-US" sz="1800"/>
              <a:t>Limitations/Restrictions for the Model</a:t>
            </a:r>
          </a:p>
          <a:p>
            <a:pPr marL="457200" indent="-457200">
              <a:buAutoNum type="arabicPeriod"/>
            </a:pPr>
            <a:r>
              <a:rPr lang="en-US" sz="1800"/>
              <a:t>Model Changes since last CMGC/Board Approved Version</a:t>
            </a:r>
          </a:p>
          <a:p>
            <a:pPr marL="457200" indent="-457200">
              <a:buAutoNum type="arabicPeriod"/>
            </a:pPr>
            <a:r>
              <a:rPr lang="en-US" sz="1800"/>
              <a:t>Testing</a:t>
            </a:r>
          </a:p>
          <a:p>
            <a:pPr marL="457200" indent="-457200">
              <a:buAutoNum type="arabicPeriod"/>
            </a:pPr>
            <a:r>
              <a:rPr lang="en-US" sz="1800"/>
              <a:t>Back-Testing</a:t>
            </a:r>
          </a:p>
          <a:p>
            <a:pPr marL="457200" indent="-457200">
              <a:buAutoNum type="arabicPeriod"/>
            </a:pPr>
            <a:r>
              <a:rPr lang="en-US" sz="1800"/>
              <a:t>Model Validation Summary</a:t>
            </a:r>
          </a:p>
          <a:p>
            <a:pPr marL="457200" indent="-457200">
              <a:buAutoNum type="arabicPeriod"/>
            </a:pPr>
            <a:r>
              <a:rPr lang="en-US" sz="1800"/>
              <a:t>Model Training</a:t>
            </a:r>
          </a:p>
          <a:p>
            <a:pPr marL="457200" indent="-457200">
              <a:buAutoNum type="arabicPeriod"/>
            </a:pPr>
            <a:r>
              <a:rPr lang="en-US" sz="1800"/>
              <a:t>Model Retirement Request</a:t>
            </a:r>
          </a:p>
        </p:txBody>
      </p:sp>
      <p:sp>
        <p:nvSpPr>
          <p:cNvPr id="6" name="Slide Number Placeholder 5"/>
          <p:cNvSpPr>
            <a:spLocks noGrp="1"/>
          </p:cNvSpPr>
          <p:nvPr>
            <p:ph type="sldNum" sz="quarter" idx="16"/>
          </p:nvPr>
        </p:nvSpPr>
        <p:spPr/>
        <p:txBody>
          <a:bodyPr/>
          <a:lstStyle/>
          <a:p>
            <a:fld id="{D8C7B916-C5B8-B44E-8A57-C4F989E2FE98}" type="slidenum">
              <a:rPr lang="en-US" smtClean="0"/>
              <a:t>2</a:t>
            </a:fld>
            <a:endParaRPr lang="en-US"/>
          </a:p>
        </p:txBody>
      </p:sp>
      <p:sp>
        <p:nvSpPr>
          <p:cNvPr id="2" name="Title 1"/>
          <p:cNvSpPr>
            <a:spLocks noGrp="1"/>
          </p:cNvSpPr>
          <p:nvPr>
            <p:ph type="title"/>
          </p:nvPr>
        </p:nvSpPr>
        <p:spPr>
          <a:xfrm>
            <a:off x="227013" y="280847"/>
            <a:ext cx="8688387" cy="322404"/>
          </a:xfrm>
        </p:spPr>
        <p:txBody>
          <a:bodyPr/>
          <a:lstStyle/>
          <a:p>
            <a:r>
              <a:rPr lang="en-US"/>
              <a:t>Agenda</a:t>
            </a:r>
          </a:p>
        </p:txBody>
      </p:sp>
    </p:spTree>
    <p:extLst>
      <p:ext uri="{BB962C8B-B14F-4D97-AF65-F5344CB8AC3E}">
        <p14:creationId xmlns:p14="http://schemas.microsoft.com/office/powerpoint/2010/main" val="29936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5613" y="795301"/>
            <a:ext cx="8459787" cy="5248275"/>
          </a:xfrm>
        </p:spPr>
        <p:txBody>
          <a:bodyPr/>
          <a:lstStyle/>
          <a:p>
            <a:pPr marL="342900" indent="-342900">
              <a:buFont typeface="+mj-lt"/>
              <a:buAutoNum type="arabicPeriod"/>
            </a:pPr>
            <a:r>
              <a:rPr lang="en-US" sz="1200">
                <a:latin typeface="Arial" pitchFamily="34" charset="0"/>
                <a:cs typeface="Arial" pitchFamily="34" charset="0"/>
              </a:rPr>
              <a:t>Model Name &amp; ID:</a:t>
            </a:r>
            <a:r>
              <a:rPr lang="en-US" sz="1200" b="0">
                <a:latin typeface="Arial" pitchFamily="34" charset="0"/>
                <a:cs typeface="Arial" pitchFamily="34" charset="0"/>
              </a:rPr>
              <a:t> IICRA RSR (R) RS-INS-GLB-R-001116-V001</a:t>
            </a:r>
          </a:p>
          <a:p>
            <a:pPr marL="690563" lvl="1" indent="-342900">
              <a:buFont typeface="+mj-lt"/>
              <a:buAutoNum type="romanLcPeriod"/>
            </a:pPr>
            <a:r>
              <a:rPr lang="en-US" sz="1200">
                <a:latin typeface="Arial" pitchFamily="34" charset="0"/>
                <a:cs typeface="Arial" pitchFamily="34" charset="0"/>
              </a:rPr>
              <a:t>Last version approved by the CMGC/Board of Managers:</a:t>
            </a:r>
            <a:r>
              <a:rPr lang="en-US" sz="1200" b="0">
                <a:latin typeface="Arial" pitchFamily="34" charset="0"/>
                <a:cs typeface="Arial" pitchFamily="34" charset="0"/>
              </a:rPr>
              <a:t> RS-INS-GLB-R-000463-V007 IICRA RSR (Excel)</a:t>
            </a:r>
          </a:p>
          <a:p>
            <a:pPr marL="690563" lvl="1" indent="-342900">
              <a:buFont typeface="+mj-lt"/>
              <a:buAutoNum type="romanLcPeriod"/>
            </a:pPr>
            <a:r>
              <a:rPr lang="en-US" sz="1200">
                <a:latin typeface="Arial" pitchFamily="34" charset="0"/>
                <a:cs typeface="Arial" pitchFamily="34" charset="0"/>
              </a:rPr>
              <a:t>Version this new Model is expected to replace:</a:t>
            </a:r>
            <a:r>
              <a:rPr lang="en-US" sz="1200" b="0">
                <a:latin typeface="Arial" pitchFamily="34" charset="0"/>
                <a:cs typeface="Arial" pitchFamily="34" charset="0"/>
              </a:rPr>
              <a:t> RS-INS-GLB-R-000463-V007 IICRA RSR (Excel)</a:t>
            </a:r>
          </a:p>
          <a:p>
            <a:pPr marL="342900" indent="-342900">
              <a:buFont typeface="+mj-lt"/>
              <a:buAutoNum type="arabicPeriod"/>
            </a:pPr>
            <a:r>
              <a:rPr lang="en-US" sz="1200">
                <a:latin typeface="Arial" pitchFamily="34" charset="0"/>
                <a:cs typeface="Arial" pitchFamily="34" charset="0"/>
              </a:rPr>
              <a:t>Covered Model Type:</a:t>
            </a:r>
            <a:r>
              <a:rPr lang="en-US" sz="1200" b="0">
                <a:latin typeface="Arial" pitchFamily="34" charset="0"/>
                <a:cs typeface="Arial" pitchFamily="34" charset="0"/>
              </a:rPr>
              <a:t> Ratings Model</a:t>
            </a:r>
          </a:p>
          <a:p>
            <a:pPr marL="342900" indent="-342900">
              <a:buFont typeface="+mj-lt"/>
              <a:buAutoNum type="arabicPeriod"/>
            </a:pPr>
            <a:r>
              <a:rPr lang="en-US" sz="1200">
                <a:latin typeface="Arial" pitchFamily="34" charset="0"/>
                <a:cs typeface="Arial" pitchFamily="34" charset="0"/>
              </a:rPr>
              <a:t>Purpose of the Model</a:t>
            </a:r>
            <a:r>
              <a:rPr lang="en-US" sz="1200" b="0">
                <a:latin typeface="Arial" pitchFamily="34" charset="0"/>
                <a:cs typeface="Arial" pitchFamily="34" charset="0"/>
              </a:rPr>
              <a:t>: This model is used to determine and document IICRAs (Insurance Industry and Country Risk Assessments), which are a step in the analytical process for rating insurance companies. Although the model does not produce a rating outcome, it facilitates the derivation of, and rating summary record-keeping for, IICRA assessments that feed into the derivation of the business risk profile for an insurance company. The model produces a final IICRA score based on the corresponding country risk and industry risk profile, ranging from 1 (strongest – very low risk) to 6 (weakest – very high risk). It is recoded in R from the IICRA RSR Excel model.</a:t>
            </a:r>
          </a:p>
          <a:p>
            <a:pPr marL="342900" indent="-342900">
              <a:buFont typeface="+mj-lt"/>
              <a:buAutoNum type="arabicPeriod"/>
            </a:pPr>
            <a:r>
              <a:rPr lang="en-US" sz="1200">
                <a:latin typeface="Arial" pitchFamily="34" charset="0"/>
                <a:cs typeface="Arial" pitchFamily="34" charset="0"/>
              </a:rPr>
              <a:t>Region: </a:t>
            </a:r>
            <a:r>
              <a:rPr lang="en-US" sz="1200" b="0">
                <a:latin typeface="Arial" pitchFamily="34" charset="0"/>
                <a:cs typeface="Arial" pitchFamily="34" charset="0"/>
              </a:rPr>
              <a:t>Global</a:t>
            </a:r>
          </a:p>
          <a:p>
            <a:pPr marL="342900" indent="-342900">
              <a:buFont typeface="+mj-lt"/>
              <a:buAutoNum type="arabicPeriod"/>
            </a:pPr>
            <a:r>
              <a:rPr lang="en-US" sz="1200">
                <a:latin typeface="Arial" pitchFamily="34" charset="0"/>
                <a:cs typeface="Arial" pitchFamily="34" charset="0"/>
              </a:rPr>
              <a:t>Business: </a:t>
            </a:r>
            <a:r>
              <a:rPr lang="en-US" sz="1200" b="0">
                <a:latin typeface="Arial" pitchFamily="34" charset="0"/>
                <a:cs typeface="Arial" pitchFamily="34" charset="0"/>
              </a:rPr>
              <a:t>Insurance</a:t>
            </a:r>
          </a:p>
          <a:p>
            <a:pPr marL="342900" indent="-342900">
              <a:buFont typeface="+mj-lt"/>
              <a:buAutoNum type="arabicPeriod"/>
            </a:pPr>
            <a:r>
              <a:rPr lang="en-US" sz="1200">
                <a:latin typeface="Arial" pitchFamily="34" charset="0"/>
                <a:cs typeface="Arial" pitchFamily="34" charset="0"/>
              </a:rPr>
              <a:t>Model cross reference to other models:</a:t>
            </a:r>
            <a:r>
              <a:rPr lang="en-US" sz="1200" b="0">
                <a:latin typeface="Arial" pitchFamily="34" charset="0"/>
                <a:cs typeface="Arial" pitchFamily="34" charset="0"/>
              </a:rPr>
              <a:t> N/A</a:t>
            </a:r>
          </a:p>
          <a:p>
            <a:pPr marL="342900" indent="-342900">
              <a:buFont typeface="+mj-lt"/>
              <a:buAutoNum type="arabicPeriod"/>
            </a:pPr>
            <a:r>
              <a:rPr lang="en-US" sz="1200">
                <a:latin typeface="Arial" pitchFamily="34" charset="0"/>
                <a:cs typeface="Arial" pitchFamily="34" charset="0"/>
              </a:rPr>
              <a:t>Actual or expected usage: </a:t>
            </a:r>
            <a:r>
              <a:rPr lang="en-US" sz="1200" b="0">
                <a:latin typeface="Arial" pitchFamily="34" charset="0"/>
                <a:cs typeface="Arial" pitchFamily="34" charset="0"/>
              </a:rPr>
              <a:t>This model will be used to conduct industry and country risk assessments for insurance companies.</a:t>
            </a:r>
          </a:p>
          <a:p>
            <a:pPr marL="342900" indent="-342900">
              <a:buFont typeface="+mj-lt"/>
              <a:buAutoNum type="arabicPeriod"/>
            </a:pPr>
            <a:r>
              <a:rPr lang="en-US" sz="1200">
                <a:latin typeface="Arial" pitchFamily="34" charset="0"/>
                <a:cs typeface="Arial" pitchFamily="34" charset="0"/>
              </a:rPr>
              <a:t>Time frame during which model is expected to remain valid: </a:t>
            </a:r>
            <a:r>
              <a:rPr lang="en-US" sz="1200" b="0">
                <a:latin typeface="Arial" pitchFamily="34" charset="0"/>
                <a:cs typeface="Arial" pitchFamily="34" charset="0"/>
              </a:rPr>
              <a:t>The Model is expected to remain valid until there are changes requiring a new version or changes to the applicable criteria.</a:t>
            </a:r>
          </a:p>
          <a:p>
            <a:pPr marL="342900" indent="-342900">
              <a:buFont typeface="+mj-lt"/>
              <a:buAutoNum type="arabicPeriod"/>
            </a:pPr>
            <a:r>
              <a:rPr lang="en-US" sz="1200">
                <a:latin typeface="Arial" pitchFamily="34" charset="0"/>
                <a:cs typeface="Arial" pitchFamily="34" charset="0"/>
              </a:rPr>
              <a:t>Squad:  </a:t>
            </a:r>
            <a:r>
              <a:rPr lang="en-US" sz="1200" b="0">
                <a:latin typeface="Arial" pitchFamily="34" charset="0"/>
                <a:cs typeface="Arial" pitchFamily="34" charset="0"/>
              </a:rPr>
              <a:t> </a:t>
            </a:r>
            <a:r>
              <a:rPr lang="en-US" sz="1200" b="0" i="1">
                <a:latin typeface="Arial" pitchFamily="34" charset="0"/>
                <a:cs typeface="Arial" pitchFamily="34" charset="0"/>
              </a:rPr>
              <a:t>Model working group</a:t>
            </a:r>
            <a:r>
              <a:rPr lang="en-US" sz="1200" b="0">
                <a:latin typeface="Arial" pitchFamily="34" charset="0"/>
                <a:cs typeface="Arial" pitchFamily="34" charset="0"/>
              </a:rPr>
              <a:t>: </a:t>
            </a:r>
          </a:p>
          <a:p>
            <a:pPr marL="1484313" lvl="5" indent="-342900">
              <a:buFont typeface="Wingdings" panose="05000000000000000000" pitchFamily="2" charset="2"/>
              <a:buChar char="§"/>
            </a:pPr>
            <a:r>
              <a:rPr lang="en-US" sz="1200" b="0" i="1">
                <a:latin typeface="Arial" pitchFamily="34" charset="0"/>
                <a:cs typeface="Arial" pitchFamily="34" charset="0"/>
              </a:rPr>
              <a:t>Developer: Derek Ding</a:t>
            </a:r>
          </a:p>
          <a:p>
            <a:pPr marL="1484313" lvl="5" indent="-342900">
              <a:buFont typeface="Wingdings" panose="05000000000000000000" pitchFamily="2" charset="2"/>
              <a:buChar char="§"/>
            </a:pPr>
            <a:r>
              <a:rPr lang="en-US" sz="1200" b="0" i="1">
                <a:latin typeface="Arial" pitchFamily="34" charset="0"/>
                <a:cs typeface="Arial" pitchFamily="34" charset="0"/>
              </a:rPr>
              <a:t>Tester (must be different than Developer): Anoop Garg</a:t>
            </a:r>
          </a:p>
          <a:p>
            <a:pPr marL="1484313" lvl="5" indent="-342900">
              <a:buFont typeface="Wingdings" panose="05000000000000000000" pitchFamily="2" charset="2"/>
              <a:buChar char="§"/>
            </a:pPr>
            <a:r>
              <a:rPr lang="en-US" sz="1200" b="0" i="1">
                <a:latin typeface="Arial" pitchFamily="34" charset="0"/>
                <a:cs typeface="Arial" pitchFamily="34" charset="0"/>
              </a:rPr>
              <a:t>Squad Leader/Model Owner: Derek Ding</a:t>
            </a:r>
          </a:p>
          <a:p>
            <a:pPr marL="1484313" lvl="5" indent="-342900">
              <a:buFont typeface="Wingdings" panose="05000000000000000000" pitchFamily="2" charset="2"/>
              <a:buChar char="§"/>
            </a:pPr>
            <a:r>
              <a:rPr lang="en-US" sz="1200" b="0" i="1">
                <a:latin typeface="Arial" pitchFamily="34" charset="0"/>
                <a:cs typeface="Arial" pitchFamily="34" charset="0"/>
              </a:rPr>
              <a:t>Model Coordinator/Approver:	 </a:t>
            </a:r>
            <a:endParaRPr lang="en-US" sz="1200" i="1">
              <a:latin typeface="Arial" pitchFamily="34" charset="0"/>
              <a:cs typeface="Arial" pitchFamily="34" charset="0"/>
            </a:endParaRPr>
          </a:p>
        </p:txBody>
      </p:sp>
      <p:sp>
        <p:nvSpPr>
          <p:cNvPr id="3" name="Slide Number Placeholder 2"/>
          <p:cNvSpPr>
            <a:spLocks noGrp="1"/>
          </p:cNvSpPr>
          <p:nvPr>
            <p:ph type="sldNum" sz="quarter" idx="16"/>
          </p:nvPr>
        </p:nvSpPr>
        <p:spPr/>
        <p:txBody>
          <a:bodyPr/>
          <a:lstStyle/>
          <a:p>
            <a:fld id="{D8C7B916-C5B8-B44E-8A57-C4F989E2FE98}" type="slidenum">
              <a:rPr lang="en-US" smtClean="0"/>
              <a:t>3</a:t>
            </a:fld>
            <a:endParaRPr lang="en-US"/>
          </a:p>
        </p:txBody>
      </p:sp>
      <p:sp>
        <p:nvSpPr>
          <p:cNvPr id="11" name="Title 10"/>
          <p:cNvSpPr>
            <a:spLocks noGrp="1"/>
          </p:cNvSpPr>
          <p:nvPr>
            <p:ph type="title"/>
          </p:nvPr>
        </p:nvSpPr>
        <p:spPr>
          <a:xfrm>
            <a:off x="227013" y="280847"/>
            <a:ext cx="8688387" cy="315502"/>
          </a:xfrm>
        </p:spPr>
        <p:txBody>
          <a:bodyPr/>
          <a:lstStyle/>
          <a:p>
            <a:r>
              <a:rPr lang="en-US" sz="1800"/>
              <a:t>1. Executive Summary:</a:t>
            </a:r>
            <a:endParaRPr lang="en-US" sz="1800">
              <a:solidFill>
                <a:srgbClr val="FF0000"/>
              </a:solidFill>
            </a:endParaRPr>
          </a:p>
        </p:txBody>
      </p:sp>
    </p:spTree>
    <p:extLst>
      <p:ext uri="{BB962C8B-B14F-4D97-AF65-F5344CB8AC3E}">
        <p14:creationId xmlns:p14="http://schemas.microsoft.com/office/powerpoint/2010/main" val="406790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457200" y="3729470"/>
            <a:ext cx="8458200" cy="2033767"/>
          </a:xfrm>
        </p:spPr>
        <p:txBody>
          <a:bodyPr/>
          <a:lstStyle/>
          <a:p>
            <a:pPr marL="342900" indent="-342900">
              <a:buFont typeface="+mj-lt"/>
              <a:buAutoNum type="arabicParenR"/>
            </a:pPr>
            <a:r>
              <a:rPr lang="en-US" sz="1000"/>
              <a:t>Purpose:</a:t>
            </a:r>
            <a:r>
              <a:rPr lang="en-US" sz="1000" b="0"/>
              <a:t> N/A – IICRA RSR (R) is not a Project Finance model.</a:t>
            </a:r>
          </a:p>
          <a:p>
            <a:pPr marL="342900" indent="-342900">
              <a:buFont typeface="+mj-lt"/>
              <a:buAutoNum type="arabicParenR"/>
            </a:pPr>
            <a:r>
              <a:rPr lang="en-US" sz="1000"/>
              <a:t>Debt:</a:t>
            </a:r>
            <a:r>
              <a:rPr lang="en-US" sz="1000" b="0"/>
              <a:t> N/A</a:t>
            </a:r>
          </a:p>
          <a:p>
            <a:pPr marL="342900" indent="-342900">
              <a:buFont typeface="+mj-lt"/>
              <a:buAutoNum type="arabicParenR"/>
            </a:pPr>
            <a:r>
              <a:rPr lang="en-US" sz="1000"/>
              <a:t>Transaction Background:</a:t>
            </a:r>
            <a:r>
              <a:rPr lang="en-US" sz="1000" b="0"/>
              <a:t> N/A</a:t>
            </a:r>
          </a:p>
          <a:p>
            <a:pPr marL="342900" indent="-342900">
              <a:buFont typeface="+mj-lt"/>
              <a:buAutoNum type="arabicParenR"/>
            </a:pPr>
            <a:r>
              <a:rPr lang="en-US" sz="1000"/>
              <a:t>Revenue Sources:</a:t>
            </a:r>
            <a:r>
              <a:rPr lang="en-US" sz="1000" b="0"/>
              <a:t> N/A</a:t>
            </a:r>
          </a:p>
          <a:p>
            <a:pPr marL="342900" indent="-342900">
              <a:buFont typeface="+mj-lt"/>
              <a:buAutoNum type="arabicParenR"/>
            </a:pPr>
            <a:r>
              <a:rPr lang="en-US" sz="1000"/>
              <a:t>Performance Risk:</a:t>
            </a:r>
            <a:r>
              <a:rPr lang="en-US" sz="1000" b="0"/>
              <a:t> N/A</a:t>
            </a:r>
          </a:p>
        </p:txBody>
      </p:sp>
      <p:sp>
        <p:nvSpPr>
          <p:cNvPr id="4" name="Title 10"/>
          <p:cNvSpPr>
            <a:spLocks noGrp="1"/>
          </p:cNvSpPr>
          <p:nvPr>
            <p:ph type="title"/>
          </p:nvPr>
        </p:nvSpPr>
        <p:spPr>
          <a:xfrm>
            <a:off x="227013" y="280847"/>
            <a:ext cx="8688387" cy="322403"/>
          </a:xfrm>
        </p:spPr>
        <p:txBody>
          <a:bodyPr/>
          <a:lstStyle/>
          <a:p>
            <a:r>
              <a:rPr lang="en-US" sz="1800"/>
              <a:t>1. Project Background: </a:t>
            </a:r>
            <a:r>
              <a:rPr lang="en-US" sz="1800">
                <a:solidFill>
                  <a:srgbClr val="FF0000"/>
                </a:solidFill>
              </a:rPr>
              <a:t>For ProjFin Models Only, Include Project Name</a:t>
            </a:r>
          </a:p>
        </p:txBody>
      </p:sp>
      <p:sp>
        <p:nvSpPr>
          <p:cNvPr id="3" name="Slide Number Placeholder 2"/>
          <p:cNvSpPr>
            <a:spLocks noGrp="1"/>
          </p:cNvSpPr>
          <p:nvPr>
            <p:ph type="sldNum" sz="quarter" idx="16"/>
          </p:nvPr>
        </p:nvSpPr>
        <p:spPr/>
        <p:txBody>
          <a:bodyPr/>
          <a:lstStyle/>
          <a:p>
            <a:fld id="{B270B15E-DA89-4221-8FC4-42200B7F7AB5}" type="slidenum">
              <a:rPr lang="en-US" smtClean="0"/>
              <a:t>4</a:t>
            </a:fld>
            <a:endParaRPr lang="en-US"/>
          </a:p>
        </p:txBody>
      </p:sp>
    </p:spTree>
    <p:extLst>
      <p:ext uri="{BB962C8B-B14F-4D97-AF65-F5344CB8AC3E}">
        <p14:creationId xmlns:p14="http://schemas.microsoft.com/office/powerpoint/2010/main" val="9211058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5</a:t>
            </a:fld>
            <a:endParaRPr lang="en-US"/>
          </a:p>
        </p:txBody>
      </p:sp>
      <p:sp>
        <p:nvSpPr>
          <p:cNvPr id="11" name="Title 10"/>
          <p:cNvSpPr>
            <a:spLocks noGrp="1"/>
          </p:cNvSpPr>
          <p:nvPr>
            <p:ph type="title"/>
          </p:nvPr>
        </p:nvSpPr>
        <p:spPr>
          <a:xfrm>
            <a:off x="227013" y="208761"/>
            <a:ext cx="8688387" cy="322404"/>
          </a:xfrm>
        </p:spPr>
        <p:txBody>
          <a:bodyPr/>
          <a:lstStyle/>
          <a:p>
            <a:r>
              <a:rPr lang="en-US" sz="1800"/>
              <a:t>2. Relevant Criteria Articles</a:t>
            </a:r>
            <a:endParaRPr lang="en-US" sz="1800">
              <a:solidFill>
                <a:srgbClr val="FF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83894206"/>
              </p:ext>
            </p:extLst>
          </p:nvPr>
        </p:nvGraphicFramePr>
        <p:xfrm>
          <a:off x="274469" y="821364"/>
          <a:ext cx="8443519" cy="1926703"/>
        </p:xfrm>
        <a:graphic>
          <a:graphicData uri="http://schemas.openxmlformats.org/drawingml/2006/table">
            <a:tbl>
              <a:tblPr firstRow="1" bandRow="1">
                <a:tableStyleId>{5202B0CA-FC54-4496-8BCA-5EF66A818D29}</a:tableStyleId>
              </a:tblPr>
              <a:tblGrid>
                <a:gridCol w="406866">
                  <a:extLst>
                    <a:ext uri="{9D8B030D-6E8A-4147-A177-3AD203B41FA5}">
                      <a16:colId xmlns:a16="http://schemas.microsoft.com/office/drawing/2014/main" val="2451361336"/>
                    </a:ext>
                  </a:extLst>
                </a:gridCol>
                <a:gridCol w="1786855">
                  <a:extLst>
                    <a:ext uri="{9D8B030D-6E8A-4147-A177-3AD203B41FA5}">
                      <a16:colId xmlns:a16="http://schemas.microsoft.com/office/drawing/2014/main" val="3092450321"/>
                    </a:ext>
                  </a:extLst>
                </a:gridCol>
                <a:gridCol w="2080470">
                  <a:extLst>
                    <a:ext uri="{9D8B030D-6E8A-4147-A177-3AD203B41FA5}">
                      <a16:colId xmlns:a16="http://schemas.microsoft.com/office/drawing/2014/main" val="3049491359"/>
                    </a:ext>
                  </a:extLst>
                </a:gridCol>
                <a:gridCol w="4169328">
                  <a:extLst>
                    <a:ext uri="{9D8B030D-6E8A-4147-A177-3AD203B41FA5}">
                      <a16:colId xmlns:a16="http://schemas.microsoft.com/office/drawing/2014/main" val="2626601066"/>
                    </a:ext>
                  </a:extLst>
                </a:gridCol>
              </a:tblGrid>
              <a:tr h="322296">
                <a:tc>
                  <a:txBody>
                    <a:bodyPr/>
                    <a:lstStyle/>
                    <a:p>
                      <a:pPr marL="0" indent="-457200" algn="ctr" defTabSz="457200" rtl="0" eaLnBrk="1" latinLnBrk="0" hangingPunct="1">
                        <a:lnSpc>
                          <a:spcPct val="115000"/>
                        </a:lnSpc>
                        <a:spcAft>
                          <a:spcPct val="0"/>
                        </a:spcAft>
                      </a:pPr>
                      <a:r>
                        <a:rPr lang="en-US" sz="1200" kern="1200">
                          <a:effectLst/>
                        </a:rPr>
                        <a:t> </a:t>
                      </a:r>
                      <a:endParaRPr lang="en-US" sz="1200" b="1" kern="1200">
                        <a:solidFill>
                          <a:schemeClr val="lt1"/>
                        </a:solidFill>
                        <a:effectLst/>
                        <a:latin typeface="+mn-lt"/>
                        <a:ea typeface="+mn-ea"/>
                        <a:cs typeface="+mn-cs"/>
                      </a:endParaRPr>
                    </a:p>
                  </a:txBody>
                  <a:tcPr marL="68580" marR="68580" marT="0" marB="0" anchor="ctr">
                    <a:solidFill>
                      <a:schemeClr val="accent1"/>
                    </a:solidFill>
                  </a:tcPr>
                </a:tc>
                <a:tc>
                  <a:txBody>
                    <a:bodyPr/>
                    <a:lstStyle/>
                    <a:p>
                      <a:pPr algn="ctr">
                        <a:lnSpc>
                          <a:spcPct val="115000"/>
                        </a:lnSpc>
                        <a:spcAft>
                          <a:spcPct val="0"/>
                        </a:spcAft>
                      </a:pPr>
                      <a:r>
                        <a:rPr lang="en-US" sz="1400">
                          <a:effectLst/>
                        </a:rPr>
                        <a:t>Criteria ID (CUID)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gn="ctr">
                        <a:lnSpc>
                          <a:spcPct val="115000"/>
                        </a:lnSpc>
                        <a:spcAft>
                          <a:spcPct val="0"/>
                        </a:spcAft>
                      </a:pPr>
                      <a:r>
                        <a:rPr lang="en-US" sz="1400">
                          <a:effectLst/>
                        </a:rPr>
                        <a:t>Date Criteria Published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nSpc>
                          <a:spcPct val="115000"/>
                        </a:lnSpc>
                        <a:spcAft>
                          <a:spcPct val="0"/>
                        </a:spcAft>
                      </a:pPr>
                      <a:r>
                        <a:rPr lang="en-US" sz="1400">
                          <a:effectLst/>
                        </a:rPr>
                        <a:t>Criteria Title</a:t>
                      </a:r>
                      <a:endParaRPr lang="en-US" sz="1100">
                        <a:effectLst/>
                        <a:latin typeface="Calibri"/>
                        <a:ea typeface="Calibri"/>
                        <a:cs typeface="Times New Roman" charset="0"/>
                      </a:endParaRPr>
                    </a:p>
                  </a:txBody>
                  <a:tcPr marL="68580" marR="68580" marT="0" marB="0" anchor="b">
                    <a:solidFill>
                      <a:schemeClr val="accent1"/>
                    </a:solidFill>
                  </a:tcPr>
                </a:tc>
                <a:extLst>
                  <a:ext uri="{0D108BD9-81ED-4DB2-BD59-A6C34878D82A}">
                    <a16:rowId xmlns:a16="http://schemas.microsoft.com/office/drawing/2014/main" val="1675296618"/>
                  </a:ext>
                </a:extLst>
              </a:tr>
              <a:tr h="322296">
                <a:tc>
                  <a:txBody>
                    <a:bodyPr/>
                    <a:lstStyle/>
                    <a:p>
                      <a:pPr marL="0" algn="ctr" defTabSz="457200" rtl="0" eaLnBrk="1" latinLnBrk="0" hangingPunct="1">
                        <a:spcAft>
                          <a:spcPct val="0"/>
                        </a:spcAft>
                      </a:pPr>
                      <a:r>
                        <a:rPr lang="en-US" sz="1200" b="1" kern="1200">
                          <a:solidFill>
                            <a:schemeClr val="bg1"/>
                          </a:solidFill>
                          <a:effectLst/>
                        </a:rPr>
                        <a:t>1</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r>
                        <a:rPr lang="en-US" sz="1200">
                          <a:solidFill>
                            <a:srgbClr val="000000"/>
                          </a:solidFill>
                          <a:effectLst/>
                          <a:latin typeface="Arial"/>
                          <a:ea typeface="Calibri"/>
                        </a:rPr>
                        <a:t>C-EN-11017264-10</a:t>
                      </a:r>
                    </a:p>
                  </a:txBody>
                  <a:tcPr marL="68580" marR="68580" marT="0" marB="0" anchor="ctr"/>
                </a:tc>
                <a:tc>
                  <a:txBody>
                    <a:bodyPr/>
                    <a:lstStyle/>
                    <a:p>
                      <a:pPr algn="ctr">
                        <a:spcAft>
                          <a:spcPct val="0"/>
                        </a:spcAft>
                      </a:pPr>
                      <a:r>
                        <a:rPr lang="en-US" sz="1200">
                          <a:solidFill>
                            <a:srgbClr val="000000"/>
                          </a:solidFill>
                          <a:effectLst/>
                          <a:latin typeface="Arial"/>
                          <a:ea typeface="Calibri"/>
                        </a:rPr>
                        <a:t>Jul 01, 2019</a:t>
                      </a:r>
                    </a:p>
                  </a:txBody>
                  <a:tcPr marL="68580" marR="68580" marT="0" marB="0" anchor="ctr"/>
                </a:tc>
                <a:tc>
                  <a:txBody>
                    <a:bodyPr/>
                    <a:lstStyle/>
                    <a:p>
                      <a:pPr>
                        <a:spcAft>
                          <a:spcPct val="0"/>
                        </a:spcAft>
                      </a:pPr>
                      <a:r>
                        <a:rPr lang="en-US" sz="1200">
                          <a:solidFill>
                            <a:srgbClr val="000000"/>
                          </a:solidFill>
                          <a:effectLst/>
                          <a:latin typeface="Arial"/>
                          <a:ea typeface="Calibri"/>
                        </a:rPr>
                        <a:t>Insurers Rating Methodology</a:t>
                      </a:r>
                    </a:p>
                  </a:txBody>
                  <a:tcPr marL="68580" marR="68580" marT="0" marB="0" anchor="ctr"/>
                </a:tc>
                <a:extLst>
                  <a:ext uri="{0D108BD9-81ED-4DB2-BD59-A6C34878D82A}">
                    <a16:rowId xmlns:a16="http://schemas.microsoft.com/office/drawing/2014/main" val="3839280355"/>
                  </a:ext>
                </a:extLst>
              </a:tr>
              <a:tr h="322296">
                <a:tc>
                  <a:txBody>
                    <a:bodyPr/>
                    <a:lstStyle/>
                    <a:p>
                      <a:pPr marL="0" algn="ctr" defTabSz="457200" rtl="0" eaLnBrk="1" latinLnBrk="0" hangingPunct="1">
                        <a:spcAft>
                          <a:spcPct val="0"/>
                        </a:spcAft>
                      </a:pPr>
                      <a:r>
                        <a:rPr lang="en-US" sz="1200" b="1" kern="1200">
                          <a:solidFill>
                            <a:schemeClr val="bg1"/>
                          </a:solidFill>
                          <a:effectLst/>
                        </a:rPr>
                        <a:t>2</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4023690977"/>
                  </a:ext>
                </a:extLst>
              </a:tr>
              <a:tr h="315223">
                <a:tc>
                  <a:txBody>
                    <a:bodyPr/>
                    <a:lstStyle/>
                    <a:p>
                      <a:pPr marL="0" algn="ctr" defTabSz="457200" rtl="0" eaLnBrk="1" latinLnBrk="0" hangingPunct="1">
                        <a:spcAft>
                          <a:spcPct val="0"/>
                        </a:spcAft>
                      </a:pPr>
                      <a:r>
                        <a:rPr lang="en-US" sz="1200" b="1" kern="1200">
                          <a:solidFill>
                            <a:schemeClr val="bg1"/>
                          </a:solidFill>
                          <a:effectLst/>
                        </a:rPr>
                        <a:t>3</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3151102751"/>
                  </a:ext>
                </a:extLst>
              </a:tr>
              <a:tr h="322296">
                <a:tc>
                  <a:txBody>
                    <a:bodyPr/>
                    <a:lstStyle/>
                    <a:p>
                      <a:pPr marL="0" algn="ctr" defTabSz="457200" rtl="0" eaLnBrk="1" latinLnBrk="0" hangingPunct="1">
                        <a:spcAft>
                          <a:spcPct val="0"/>
                        </a:spcAft>
                      </a:pPr>
                      <a:r>
                        <a:rPr lang="en-US" sz="1200" b="1" kern="1200">
                          <a:solidFill>
                            <a:schemeClr val="bg1"/>
                          </a:solidFill>
                          <a:effectLst/>
                        </a:rPr>
                        <a:t>4</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923210152"/>
                  </a:ext>
                </a:extLst>
              </a:tr>
              <a:tr h="322296">
                <a:tc>
                  <a:txBody>
                    <a:bodyPr/>
                    <a:lstStyle/>
                    <a:p>
                      <a:pPr marL="0" algn="ctr" defTabSz="457200" rtl="0" eaLnBrk="1" latinLnBrk="0" hangingPunct="1">
                        <a:spcAft>
                          <a:spcPct val="0"/>
                        </a:spcAft>
                      </a:pPr>
                      <a:r>
                        <a:rPr lang="en-US" sz="1200" b="1" kern="1200">
                          <a:solidFill>
                            <a:schemeClr val="bg1"/>
                          </a:solidFill>
                          <a:effectLst/>
                        </a:rPr>
                        <a:t>5</a:t>
                      </a:r>
                      <a:endParaRPr lang="en-US" sz="1200" b="1" kern="1200">
                        <a:solidFill>
                          <a:schemeClr val="bg1"/>
                        </a:solidFill>
                        <a:effectLst/>
                        <a:latin typeface="+mn-lt"/>
                        <a:ea typeface="+mn-ea"/>
                        <a:cs typeface="+mn-cs"/>
                      </a:endParaRPr>
                    </a:p>
                  </a:txBody>
                  <a:tcPr marL="68580" marR="68580" marT="0" marB="0" anchor="ctr">
                    <a:solidFill>
                      <a:schemeClr val="accent1"/>
                    </a:solidFill>
                  </a:tcPr>
                </a:tc>
                <a:tc>
                  <a:txBody>
                    <a:bodyPr/>
                    <a:lstStyle/>
                    <a:p>
                      <a:pPr>
                        <a:spcAft>
                          <a:spcPct val="0"/>
                        </a:spcAft>
                      </a:pPr>
                      <a:endParaRPr lang="en-US" sz="1200">
                        <a:solidFill>
                          <a:srgbClr val="000000"/>
                        </a:solidFill>
                        <a:effectLst/>
                        <a:latin typeface="Arial"/>
                        <a:ea typeface="Calibri"/>
                      </a:endParaRPr>
                    </a:p>
                  </a:txBody>
                  <a:tcPr marL="68580" marR="68580" marT="0" marB="0" anchor="ctr"/>
                </a:tc>
                <a:tc>
                  <a:txBody>
                    <a:bodyPr/>
                    <a:lstStyle/>
                    <a:p>
                      <a:pPr algn="ctr">
                        <a:spcAft>
                          <a:spcPct val="0"/>
                        </a:spcAft>
                      </a:pPr>
                      <a:endParaRPr lang="en-US" sz="1200">
                        <a:solidFill>
                          <a:srgbClr val="000000"/>
                        </a:solidFill>
                        <a:effectLst/>
                        <a:latin typeface="Arial"/>
                        <a:ea typeface="Calibri"/>
                      </a:endParaRPr>
                    </a:p>
                  </a:txBody>
                  <a:tcPr marL="68580" marR="68580" marT="0" marB="0" anchor="ctr"/>
                </a:tc>
                <a:tc>
                  <a:txBody>
                    <a:bodyPr/>
                    <a:lstStyle/>
                    <a:p>
                      <a:pPr>
                        <a:spcAft>
                          <a:spcPct val="0"/>
                        </a:spcAft>
                      </a:pPr>
                      <a:endParaRPr lang="en-US" sz="1200">
                        <a:solidFill>
                          <a:srgbClr val="000000"/>
                        </a:solidFill>
                        <a:effectLst/>
                        <a:latin typeface="Arial"/>
                        <a:ea typeface="Calibri"/>
                      </a:endParaRPr>
                    </a:p>
                  </a:txBody>
                  <a:tcPr marL="68580" marR="68580" marT="0" marB="0" anchor="ctr"/>
                </a:tc>
                <a:extLst>
                  <a:ext uri="{0D108BD9-81ED-4DB2-BD59-A6C34878D82A}">
                    <a16:rowId xmlns:a16="http://schemas.microsoft.com/office/drawing/2014/main" val="180055822"/>
                  </a:ext>
                </a:extLst>
              </a:tr>
            </a:tbl>
          </a:graphicData>
        </a:graphic>
      </p:graphicFrame>
    </p:spTree>
    <p:extLst>
      <p:ext uri="{BB962C8B-B14F-4D97-AF65-F5344CB8AC3E}">
        <p14:creationId xmlns:p14="http://schemas.microsoft.com/office/powerpoint/2010/main" val="76651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1" y="869950"/>
            <a:ext cx="8229600" cy="5248275"/>
          </a:xfrm>
        </p:spPr>
        <p:txBody>
          <a:bodyPr/>
          <a:lstStyle/>
          <a:p>
            <a:pPr marL="342900" indent="-342900">
              <a:buFont typeface="+mj-lt"/>
              <a:buAutoNum type="arabicPeriod"/>
            </a:pPr>
            <a:r>
              <a:rPr lang="en-US" sz="1400"/>
              <a:t>Lead Model Developer: </a:t>
            </a:r>
            <a:r>
              <a:rPr lang="en-US" sz="1400" b="0"/>
              <a:t>Derek Ding</a:t>
            </a:r>
          </a:p>
          <a:p>
            <a:pPr marL="342900" indent="-342900">
              <a:buFont typeface="+mj-lt"/>
              <a:buAutoNum type="arabicPeriod"/>
            </a:pPr>
            <a:endParaRPr lang="en-US" sz="1400" b="0"/>
          </a:p>
          <a:p>
            <a:pPr marL="342900" indent="-342900">
              <a:buFont typeface="+mj-lt"/>
              <a:buAutoNum type="arabicPeriod"/>
            </a:pPr>
            <a:r>
              <a:rPr lang="en-US" sz="1400" i="1"/>
              <a:t>Platform for model deployment:  </a:t>
            </a:r>
            <a:r>
              <a:rPr lang="en-US" sz="1400" b="0" i="1"/>
              <a:t>R</a:t>
            </a:r>
          </a:p>
          <a:p>
            <a:pPr marL="342900" indent="-342900">
              <a:buFont typeface="+mj-lt"/>
              <a:buAutoNum type="arabicPeriod"/>
            </a:pPr>
            <a:endParaRPr lang="en-US" sz="1400"/>
          </a:p>
          <a:p>
            <a:pPr marL="342900" indent="-342900">
              <a:buFont typeface="+mj-lt"/>
              <a:buAutoNum type="arabicPeriod"/>
            </a:pPr>
            <a:r>
              <a:rPr lang="en-US" sz="1400"/>
              <a:t>Start/Completion Dates of Model Development:</a:t>
            </a:r>
            <a:r>
              <a:rPr lang="en-US" sz="1400" b="0"/>
              <a:t> [TBD]</a:t>
            </a:r>
          </a:p>
          <a:p>
            <a:pPr marL="342900" indent="-342900">
              <a:buFont typeface="+mj-lt"/>
              <a:buAutoNum type="arabicPeriod"/>
            </a:pPr>
            <a:endParaRPr lang="en-US" sz="1400"/>
          </a:p>
          <a:p>
            <a:pPr marL="342900" indent="-342900">
              <a:buFont typeface="+mj-lt"/>
              <a:buAutoNum type="arabicPeriod"/>
            </a:pPr>
            <a:r>
              <a:rPr lang="en-US" sz="1400"/>
              <a:t>Type &amp; Source of Inputs:</a:t>
            </a:r>
            <a:endParaRPr lang="en-US" sz="1400" b="0"/>
          </a:p>
          <a:p>
            <a:pPr marL="576263" lvl="1" indent="-342900">
              <a:buFont typeface="+mj-lt"/>
              <a:buAutoNum type="alphaLcParenR"/>
            </a:pPr>
            <a:r>
              <a:rPr lang="en-US" sz="1400" b="0"/>
              <a:t>Type of Inputs: country risk assessment; industry risk assessment; and adjustment, if applicable.</a:t>
            </a:r>
          </a:p>
          <a:p>
            <a:pPr marL="576263" lvl="1" indent="-342900">
              <a:buFont typeface="+mj-lt"/>
              <a:buAutoNum type="alphaLcParenR"/>
            </a:pPr>
            <a:r>
              <a:rPr lang="en-US" sz="1400" b="0"/>
              <a:t>Additional inputs to assist the assessment of industry risk: profitability, product risk, barriers to entry, market growth prospects, and institutional framework.</a:t>
            </a:r>
          </a:p>
          <a:p>
            <a:pPr marL="576263" lvl="1" indent="-342900">
              <a:buFont typeface="+mj-lt"/>
              <a:buAutoNum type="alphaLcParenR"/>
            </a:pPr>
            <a:r>
              <a:rPr lang="en-US" sz="1400" b="0"/>
              <a:t>Source of Inputs: user input / analyst assessment.</a:t>
            </a:r>
          </a:p>
          <a:p>
            <a:pPr marL="342900" indent="-342900">
              <a:buFont typeface="+mj-lt"/>
              <a:buAutoNum type="arabicPeriod"/>
            </a:pPr>
            <a:r>
              <a:rPr lang="en-US" sz="1400"/>
              <a:t>Model performance measures:</a:t>
            </a:r>
            <a:r>
              <a:rPr lang="en-US" sz="1400" b="0"/>
              <a:t> unit testing, UI testing, integration testing (within the Analytical Desktop workflow system), and Criteria Validation Report.</a:t>
            </a:r>
            <a:br>
              <a:rPr lang="en-US" sz="1400" b="0"/>
            </a:br>
            <a:endParaRPr lang="en-US" sz="1400" b="0"/>
          </a:p>
          <a:p>
            <a:pPr marL="342900" indent="-342900">
              <a:buFont typeface="+mj-lt"/>
              <a:buAutoNum type="arabicPeriod"/>
            </a:pPr>
            <a:r>
              <a:rPr lang="en-US" sz="1400"/>
              <a:t>Date of model validation report (if any):</a:t>
            </a:r>
            <a:r>
              <a:rPr lang="en-US" sz="1400" b="0"/>
              <a:t> [TBD]</a:t>
            </a:r>
          </a:p>
          <a:p>
            <a:pPr marL="342900" indent="-342900">
              <a:buFont typeface="+mj-lt"/>
              <a:buAutoNum type="arabicPeriod"/>
            </a:pPr>
            <a:endParaRPr lang="en-US" sz="1400" b="0"/>
          </a:p>
          <a:p>
            <a:pPr marL="342900" indent="-342900">
              <a:buFont typeface="+mj-lt"/>
              <a:buAutoNum type="arabicPeriod"/>
            </a:pPr>
            <a:endParaRPr lang="en-US" sz="14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6</a:t>
            </a:fld>
            <a:endParaRPr lang="en-US"/>
          </a:p>
        </p:txBody>
      </p:sp>
      <p:sp>
        <p:nvSpPr>
          <p:cNvPr id="11" name="Title 10"/>
          <p:cNvSpPr>
            <a:spLocks noGrp="1"/>
          </p:cNvSpPr>
          <p:nvPr>
            <p:ph type="title"/>
          </p:nvPr>
        </p:nvSpPr>
        <p:spPr>
          <a:xfrm>
            <a:off x="227013" y="280847"/>
            <a:ext cx="8688387" cy="328753"/>
          </a:xfrm>
        </p:spPr>
        <p:txBody>
          <a:bodyPr/>
          <a:lstStyle/>
          <a:p>
            <a:r>
              <a:rPr lang="en-US" sz="1800"/>
              <a:t>3. Development Information: </a:t>
            </a:r>
          </a:p>
        </p:txBody>
      </p:sp>
    </p:spTree>
    <p:extLst>
      <p:ext uri="{BB962C8B-B14F-4D97-AF65-F5344CB8AC3E}">
        <p14:creationId xmlns:p14="http://schemas.microsoft.com/office/powerpoint/2010/main" val="66217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1" y="820738"/>
            <a:ext cx="8688387" cy="5124451"/>
          </a:xfrm>
        </p:spPr>
        <p:txBody>
          <a:bodyPr/>
          <a:lstStyle/>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7</a:t>
            </a:fld>
            <a:endParaRPr lang="en-US"/>
          </a:p>
        </p:txBody>
      </p:sp>
      <p:sp>
        <p:nvSpPr>
          <p:cNvPr id="11" name="Title 10"/>
          <p:cNvSpPr>
            <a:spLocks noGrp="1"/>
          </p:cNvSpPr>
          <p:nvPr>
            <p:ph type="title"/>
          </p:nvPr>
        </p:nvSpPr>
        <p:spPr>
          <a:xfrm>
            <a:off x="227013" y="280846"/>
            <a:ext cx="8688387" cy="328754"/>
          </a:xfrm>
        </p:spPr>
        <p:txBody>
          <a:bodyPr/>
          <a:lstStyle/>
          <a:p>
            <a:r>
              <a:rPr lang="en-US" sz="1800"/>
              <a:t>4. Access &amp; Version Controls for Model Deployment:</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320" indent="-274320">
              <a:buFont typeface="+mj-lt"/>
              <a:buAutoNum type="arabicParenR"/>
            </a:pPr>
            <a:r>
              <a:rPr lang="en-US" sz="1400" b="0">
                <a:latin typeface="Arial" pitchFamily="34" charset="0"/>
                <a:cs typeface="Arial" pitchFamily="34" charset="0"/>
              </a:rPr>
              <a:t>The instructions to access the model are stored in the Model Repository (MDTS). Only approved users can gain access to the model using their intranet username and password.</a:t>
            </a:r>
            <a:r>
              <a:rPr lang="en-US" sz="1400">
                <a:latin typeface="Arial" pitchFamily="34" charset="0"/>
                <a:cs typeface="Arial" pitchFamily="34" charset="0"/>
              </a:rPr>
              <a:t>  </a:t>
            </a:r>
          </a:p>
          <a:p>
            <a:pPr marL="274320" indent="-274320">
              <a:buFont typeface="+mj-lt"/>
              <a:buAutoNum type="arabicParenR"/>
            </a:pPr>
            <a:r>
              <a:rPr lang="en-US" sz="1400" b="0">
                <a:latin typeface="Arial" pitchFamily="34" charset="0"/>
                <a:cs typeface="Arial" pitchFamily="34" charset="0"/>
              </a:rPr>
              <a:t>Only the development team can make changes to the model.</a:t>
            </a:r>
            <a:endParaRPr lang="en-US" sz="1400">
              <a:latin typeface="Arial" pitchFamily="34" charset="0"/>
              <a:cs typeface="Arial" pitchFamily="34" charset="0"/>
            </a:endParaRPr>
          </a:p>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143072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8</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a:t>
            </a:r>
          </a:p>
        </p:txBody>
      </p:sp>
      <p:graphicFrame>
        <p:nvGraphicFramePr>
          <p:cNvPr id="2" name="Table 1"/>
          <p:cNvGraphicFramePr>
            <a:graphicFrameLocks noGrp="1"/>
          </p:cNvGraphicFramePr>
          <p:nvPr>
            <p:extLst>
              <p:ext uri="{D42A27DB-BD31-4B8C-83A1-F6EECF244321}">
                <p14:modId xmlns:p14="http://schemas.microsoft.com/office/powerpoint/2010/main" val="2006929173"/>
              </p:ext>
            </p:extLst>
          </p:nvPr>
        </p:nvGraphicFramePr>
        <p:xfrm>
          <a:off x="304799" y="1113103"/>
          <a:ext cx="7082860" cy="4606298"/>
        </p:xfrm>
        <a:graphic>
          <a:graphicData uri="http://schemas.openxmlformats.org/drawingml/2006/table">
            <a:tbl>
              <a:tblPr firstRow="1" bandRow="1">
                <a:tableStyleId>{5940675A-B579-460E-94D1-54222C63F5DA}</a:tableStyleId>
              </a:tblPr>
              <a:tblGrid>
                <a:gridCol w="2596216">
                  <a:extLst>
                    <a:ext uri="{9D8B030D-6E8A-4147-A177-3AD203B41FA5}">
                      <a16:colId xmlns:a16="http://schemas.microsoft.com/office/drawing/2014/main" val="647562201"/>
                    </a:ext>
                  </a:extLst>
                </a:gridCol>
                <a:gridCol w="788342">
                  <a:extLst>
                    <a:ext uri="{9D8B030D-6E8A-4147-A177-3AD203B41FA5}">
                      <a16:colId xmlns:a16="http://schemas.microsoft.com/office/drawing/2014/main" val="4080167663"/>
                    </a:ext>
                  </a:extLst>
                </a:gridCol>
                <a:gridCol w="664064">
                  <a:extLst>
                    <a:ext uri="{9D8B030D-6E8A-4147-A177-3AD203B41FA5}">
                      <a16:colId xmlns:a16="http://schemas.microsoft.com/office/drawing/2014/main" val="1290382712"/>
                    </a:ext>
                  </a:extLst>
                </a:gridCol>
                <a:gridCol w="926636">
                  <a:extLst>
                    <a:ext uri="{9D8B030D-6E8A-4147-A177-3AD203B41FA5}">
                      <a16:colId xmlns:a16="http://schemas.microsoft.com/office/drawing/2014/main" val="1113580134"/>
                    </a:ext>
                  </a:extLst>
                </a:gridCol>
                <a:gridCol w="653338">
                  <a:extLst>
                    <a:ext uri="{9D8B030D-6E8A-4147-A177-3AD203B41FA5}">
                      <a16:colId xmlns:a16="http://schemas.microsoft.com/office/drawing/2014/main" val="277894539"/>
                    </a:ext>
                  </a:extLst>
                </a:gridCol>
                <a:gridCol w="791419">
                  <a:extLst>
                    <a:ext uri="{9D8B030D-6E8A-4147-A177-3AD203B41FA5}">
                      <a16:colId xmlns:a16="http://schemas.microsoft.com/office/drawing/2014/main" val="3103927113"/>
                    </a:ext>
                  </a:extLst>
                </a:gridCol>
                <a:gridCol w="662845">
                  <a:extLst>
                    <a:ext uri="{9D8B030D-6E8A-4147-A177-3AD203B41FA5}">
                      <a16:colId xmlns:a16="http://schemas.microsoft.com/office/drawing/2014/main" val="2927202193"/>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2">
                  <a:txBody>
                    <a:bodyPr/>
                    <a:lstStyle/>
                    <a:p>
                      <a:pPr algn="ctr"/>
                      <a:r>
                        <a:rPr lang="en-US" sz="1400"/>
                        <a:t>Criteria</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Ratings</a:t>
                      </a:r>
                      <a:r>
                        <a:rPr lang="en-US" sz="1400" baseline="0"/>
                        <a:t> </a:t>
                      </a:r>
                      <a:r>
                        <a:rPr lang="en-US" sz="1400"/>
                        <a:t>Committee</a:t>
                      </a:r>
                    </a:p>
                    <a:p>
                      <a:pPr algn="ctr"/>
                      <a:r>
                        <a:rPr lang="en-US" sz="1400"/>
                        <a:t>or</a:t>
                      </a:r>
                      <a:r>
                        <a:rPr lang="en-US" sz="1400" baseline="0"/>
                        <a:t> </a:t>
                      </a:r>
                      <a:r>
                        <a:rPr lang="en-US" sz="1400"/>
                        <a:t>Analyst</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Model Development</a:t>
                      </a:r>
                    </a:p>
                  </a:txBody>
                  <a:tcPr anchor="b">
                    <a:solidFill>
                      <a:schemeClr val="accent6">
                        <a:lumMod val="40000"/>
                        <a:lumOff val="60000"/>
                      </a:schemeClr>
                    </a:solidFill>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The model assumes that the final IICRA score is solely derived from assumptions relating to industry and country risk factors.</a:t>
                      </a:r>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sz="1400"/>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endParaRPr lang="en-US" sz="1400"/>
                    </a:p>
                  </a:txBody>
                  <a:tcPr anchor="ctr"/>
                </a:tc>
                <a:tc>
                  <a:txBody>
                    <a:bodyPr/>
                    <a:lstStyle/>
                    <a:p>
                      <a:pPr algn="ctr"/>
                      <a:endParaRPr lang="en-US" sz="1400"/>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139229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9</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 (continued)</a:t>
            </a:r>
          </a:p>
        </p:txBody>
      </p:sp>
      <p:graphicFrame>
        <p:nvGraphicFramePr>
          <p:cNvPr id="2" name="Table 1"/>
          <p:cNvGraphicFramePr>
            <a:graphicFrameLocks noGrp="1"/>
          </p:cNvGraphicFramePr>
          <p:nvPr>
            <p:extLst>
              <p:ext uri="{D42A27DB-BD31-4B8C-83A1-F6EECF244321}">
                <p14:modId xmlns:p14="http://schemas.microsoft.com/office/powerpoint/2010/main" val="2304722010"/>
              </p:ext>
            </p:extLst>
          </p:nvPr>
        </p:nvGraphicFramePr>
        <p:xfrm>
          <a:off x="349480" y="869822"/>
          <a:ext cx="8516096" cy="4644117"/>
        </p:xfrm>
        <a:graphic>
          <a:graphicData uri="http://schemas.openxmlformats.org/drawingml/2006/table">
            <a:tbl>
              <a:tblPr firstRow="1" bandRow="1">
                <a:tableStyleId>{5940675A-B579-460E-94D1-54222C63F5DA}</a:tableStyleId>
              </a:tblPr>
              <a:tblGrid>
                <a:gridCol w="4040645">
                  <a:extLst>
                    <a:ext uri="{9D8B030D-6E8A-4147-A177-3AD203B41FA5}">
                      <a16:colId xmlns:a16="http://schemas.microsoft.com/office/drawing/2014/main" val="647562201"/>
                    </a:ext>
                  </a:extLst>
                </a:gridCol>
                <a:gridCol w="1491817">
                  <a:extLst>
                    <a:ext uri="{9D8B030D-6E8A-4147-A177-3AD203B41FA5}">
                      <a16:colId xmlns:a16="http://schemas.microsoft.com/office/drawing/2014/main" val="4080167663"/>
                    </a:ext>
                  </a:extLst>
                </a:gridCol>
                <a:gridCol w="1491817">
                  <a:extLst>
                    <a:ext uri="{9D8B030D-6E8A-4147-A177-3AD203B41FA5}">
                      <a16:colId xmlns:a16="http://schemas.microsoft.com/office/drawing/2014/main" val="1399001717"/>
                    </a:ext>
                  </a:extLst>
                </a:gridCol>
                <a:gridCol w="1491817">
                  <a:extLst>
                    <a:ext uri="{9D8B030D-6E8A-4147-A177-3AD203B41FA5}">
                      <a16:colId xmlns:a16="http://schemas.microsoft.com/office/drawing/2014/main" val="1290382712"/>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3">
                  <a:txBody>
                    <a:bodyPr/>
                    <a:lstStyle/>
                    <a:p>
                      <a:pPr algn="ctr"/>
                      <a:r>
                        <a:rPr lang="en-US" sz="1400"/>
                        <a:t>Assumption deployment</a:t>
                      </a:r>
                      <a:r>
                        <a:rPr lang="en-US" sz="1400" baseline="0"/>
                        <a:t> in model</a:t>
                      </a:r>
                      <a:endParaRPr lang="en-US" sz="1400"/>
                    </a:p>
                  </a:txBody>
                  <a:tcPr anchor="b">
                    <a:solidFill>
                      <a:schemeClr val="accent6">
                        <a:lumMod val="40000"/>
                        <a:lumOff val="60000"/>
                      </a:schemeClr>
                    </a:solidFill>
                  </a:tcPr>
                </a:tc>
                <a:tc hMerge="1">
                  <a:txBody>
                    <a:bodyPr/>
                    <a:lstStyle/>
                    <a:p>
                      <a:endParaRPr lang="en-US"/>
                    </a:p>
                  </a:txBody>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User Input</a:t>
                      </a:r>
                    </a:p>
                  </a:txBody>
                  <a:tcPr anchor="b">
                    <a:solidFill>
                      <a:schemeClr val="accent6">
                        <a:lumMod val="40000"/>
                        <a:lumOff val="60000"/>
                      </a:schemeClr>
                    </a:solidFill>
                  </a:tcPr>
                </a:tc>
                <a:tc>
                  <a:txBody>
                    <a:bodyPr/>
                    <a:lstStyle/>
                    <a:p>
                      <a:pPr algn="ctr"/>
                      <a:r>
                        <a:rPr lang="en-US" sz="1400"/>
                        <a:t>Embedded</a:t>
                      </a:r>
                    </a:p>
                  </a:txBody>
                  <a:tcPr anchor="b">
                    <a:solidFill>
                      <a:schemeClr val="accent6">
                        <a:lumMod val="40000"/>
                        <a:lumOff val="60000"/>
                      </a:schemeClr>
                    </a:solidFill>
                  </a:tcPr>
                </a:tc>
                <a:tc>
                  <a:txBody>
                    <a:bodyPr/>
                    <a:lstStyle/>
                    <a:p>
                      <a:pPr algn="ctr"/>
                      <a:r>
                        <a:rPr lang="en-US" sz="1400"/>
                        <a:t>Override Capability</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The model assumes that the final IICRA score is solely derived from assumptions relating to industry and country risk factors.</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ct val="0"/>
                        </a:spcBef>
                        <a:spcAft>
                          <a:spcPct val="0"/>
                        </a:spcAft>
                        <a:buClrTx/>
                        <a:buSzTx/>
                        <a:buFontTx/>
                        <a:buNone/>
                        <a:defRPr/>
                      </a:pPr>
                      <a:r>
                        <a:rPr lang="en-US" sz="1400"/>
                        <a:t>The model assumes that analytical judgement is applicable in cases where it is determined that the balance of industry and country risks materially understates or overstates the risks for the insurance sector of operating in a given country. In such cases, the IICRA score can be adjusted by one category.</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a:p>
                  </a:txBody>
                  <a:tcPr anchor="ctr"/>
                </a:tc>
                <a:extLst>
                  <a:ext uri="{0D108BD9-81ED-4DB2-BD59-A6C34878D82A}">
                    <a16:rowId xmlns:a16="http://schemas.microsoft.com/office/drawing/2014/main" val="4027699984"/>
                  </a:ext>
                </a:extLst>
              </a:tr>
            </a:tbl>
          </a:graphicData>
        </a:graphic>
      </p:graphicFrame>
    </p:spTree>
    <p:extLst>
      <p:ext uri="{BB962C8B-B14F-4D97-AF65-F5344CB8AC3E}">
        <p14:creationId xmlns:p14="http://schemas.microsoft.com/office/powerpoint/2010/main" val="421570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pPr marL="400050" indent="-400050">
              <a:buFont typeface="+mj-lt"/>
              <a:buAutoNum type="romanLcPeriod"/>
            </a:pPr>
            <a:r>
              <a:rPr lang="en-US" sz="1600" b="0"/>
              <a:t>The model applies exclusively to the insurance industry. It should only be used to derive the IICRAs for a designated combination of industry and country risks.</a:t>
            </a:r>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10</a:t>
            </a:fld>
            <a:endParaRPr lang="en-US"/>
          </a:p>
        </p:txBody>
      </p:sp>
      <p:sp>
        <p:nvSpPr>
          <p:cNvPr id="11" name="Title 10"/>
          <p:cNvSpPr>
            <a:spLocks noGrp="1"/>
          </p:cNvSpPr>
          <p:nvPr>
            <p:ph type="title"/>
          </p:nvPr>
        </p:nvSpPr>
        <p:spPr>
          <a:xfrm>
            <a:off x="227013" y="280847"/>
            <a:ext cx="8688387" cy="328753"/>
          </a:xfrm>
        </p:spPr>
        <p:txBody>
          <a:bodyPr/>
          <a:lstStyle/>
          <a:p>
            <a:r>
              <a:rPr lang="en-US" sz="1800"/>
              <a:t>6. Limitations/Restrictions for the Model</a:t>
            </a:r>
            <a:br>
              <a:rPr lang="en-US" sz="1800"/>
            </a:br>
            <a:r>
              <a:rPr lang="en-US" sz="1800"/>
              <a:t> </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311660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200" cy="5248275"/>
          </a:xfrm>
        </p:spPr>
        <p:txBody>
          <a:bodyPr/>
          <a:lstStyle/>
          <a:p>
            <a:pPr marL="274320" indent="-274320">
              <a:buFont typeface="+mj-lt"/>
              <a:buAutoNum type="arabicParenR"/>
            </a:pPr>
            <a:r>
              <a:rPr lang="en-US" sz="1400" b="0"/>
              <a:t>Effective Date of the Changes: Effective July 2026</a:t>
            </a:r>
          </a:p>
          <a:p>
            <a:endParaRPr lang="en-US" sz="1400" b="0">
              <a:solidFill>
                <a:srgbClr val="FF0000"/>
              </a:solidFill>
            </a:endParaRPr>
          </a:p>
          <a:p>
            <a:r>
              <a:rPr lang="en-US" sz="1400" b="0"/>
              <a:t>      Summary Description of changes since last version approved by CMGC/Board of Managers: </a:t>
            </a:r>
          </a:p>
          <a:p>
            <a:pPr marL="468630" lvl="1" indent="-285750">
              <a:spcBef>
                <a:spcPts val="1200"/>
              </a:spcBef>
              <a:buFont typeface="Wingdings" panose="05000000000000000000" pitchFamily="2" charset="2"/>
              <a:buChar char="§"/>
            </a:pPr>
            <a:r>
              <a:rPr lang="en-US" sz="1400" b="0"/>
              <a:t>RS-INS-GLB-R-001116-V001 IICRA RSR (R) is a recode of the previously approved Excel model RS-INS-GLB-R-000463-V007 IICRA RSR into R. The model is now deployed within the Analytical Desktop workflow system.</a:t>
            </a:r>
          </a:p>
          <a:p>
            <a:pPr marL="468630" lvl="1" indent="-285750">
              <a:spcBef>
                <a:spcPts val="1200"/>
              </a:spcBef>
              <a:buFont typeface="Wingdings" panose="05000000000000000000" pitchFamily="2" charset="2"/>
              <a:buChar char="§"/>
            </a:pPr>
            <a:r>
              <a:rPr lang="en-US" sz="1400" b="0"/>
              <a:t>The recode reproduces the existing model logic; no analytical methodology, assumptions, or calculations were changed. Approval is being sought for the R version (V001) to replace the Excel version (V007) currently in Business Use.</a:t>
            </a:r>
          </a:p>
          <a:p>
            <a:pPr marL="468630" lvl="1" indent="-285750">
              <a:spcBef>
                <a:spcPts val="1200"/>
              </a:spcBef>
              <a:buFont typeface="Wingdings" panose="05000000000000000000" pitchFamily="2" charset="2"/>
              <a:buChar char="§"/>
            </a:pPr>
            <a:r>
              <a:rPr lang="en-US" sz="1400" b="0"/>
              <a:t>The changes to the Model are not anticipated to have any impact on current credit ratings.</a:t>
            </a:r>
            <a:endParaRPr lang="en-GB" sz="1400" b="0"/>
          </a:p>
          <a:p>
            <a:pPr marL="342900" indent="-342900">
              <a:buFont typeface="Arial" pitchFamily="34" charset="0"/>
              <a:buChar char="•"/>
            </a:pPr>
            <a:endParaRPr lang="en-GB" sz="1800"/>
          </a:p>
        </p:txBody>
      </p:sp>
      <p:sp>
        <p:nvSpPr>
          <p:cNvPr id="3" name="Slide Number Placeholder 2"/>
          <p:cNvSpPr>
            <a:spLocks noGrp="1"/>
          </p:cNvSpPr>
          <p:nvPr>
            <p:ph type="sldNum" sz="quarter" idx="16"/>
          </p:nvPr>
        </p:nvSpPr>
        <p:spPr/>
        <p:txBody>
          <a:bodyPr/>
          <a:lstStyle/>
          <a:p>
            <a:fld id="{D8C7B916-C5B8-B44E-8A57-C4F989E2FE98}" type="slidenum">
              <a:rPr lang="en-US" smtClean="0"/>
              <a:t>11</a:t>
            </a:fld>
            <a:endParaRPr lang="en-US"/>
          </a:p>
        </p:txBody>
      </p:sp>
      <p:sp>
        <p:nvSpPr>
          <p:cNvPr id="11" name="Title 10"/>
          <p:cNvSpPr>
            <a:spLocks noGrp="1"/>
          </p:cNvSpPr>
          <p:nvPr>
            <p:ph type="title"/>
          </p:nvPr>
        </p:nvSpPr>
        <p:spPr>
          <a:xfrm>
            <a:off x="227013" y="280846"/>
            <a:ext cx="8688387" cy="328753"/>
          </a:xfrm>
        </p:spPr>
        <p:txBody>
          <a:bodyPr/>
          <a:lstStyle/>
          <a:p>
            <a:r>
              <a:rPr lang="en-US" sz="1800"/>
              <a:t>7. Model Changes since last CMGC/Board Approved Version</a:t>
            </a:r>
          </a:p>
        </p:txBody>
      </p:sp>
    </p:spTree>
    <p:extLst>
      <p:ext uri="{BB962C8B-B14F-4D97-AF65-F5344CB8AC3E}">
        <p14:creationId xmlns:p14="http://schemas.microsoft.com/office/powerpoint/2010/main" val="418865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12</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a:t>
            </a:r>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26148"/>
            <a:ext cx="8352555" cy="4893647"/>
          </a:xfrm>
          <a:prstGeom prst="rect">
            <a:avLst/>
          </a:prstGeom>
          <a:noFill/>
        </p:spPr>
        <p:txBody>
          <a:bodyPr wrap="square" rtlCol="0">
            <a:spAutoFit/>
          </a:bodyPr>
          <a:lstStyle/>
          <a:p>
            <a:pPr marL="285750" indent="-285750" algn="just">
              <a:buFont typeface="Arial" pitchFamily="34" charset="0"/>
              <a:buChar char="•"/>
            </a:pPr>
            <a:r>
              <a:rPr lang="en-US" sz="1200" b="0">
                <a:latin typeface="Arial" pitchFamily="34" charset="0"/>
                <a:cs typeface="Arial" pitchFamily="34" charset="0"/>
              </a:rPr>
              <a:t>The model has been tested by means of unit testing, UI testing, and integration testing within the Analytical Desktop workflow system.</a:t>
            </a: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Unit testing involves independently testing individual components of a model to ensure they behave as expected.</a:t>
            </a:r>
          </a:p>
          <a:p>
            <a:pPr marL="285750" indent="-285750" algn="just">
              <a:buFont typeface="Arial" pitchFamily="34" charset="0"/>
              <a:buChar char="•"/>
            </a:pPr>
            <a:endParaRPr lang="en-US" sz="1200">
              <a:latin typeface="Arial" pitchFamily="34" charset="0"/>
              <a:cs typeface="Arial" pitchFamily="34" charset="0"/>
            </a:endParaRPr>
          </a:p>
          <a:p>
            <a:pPr marL="742950" lvl="1" indent="-285750" algn="just">
              <a:buFont typeface="Arial" pitchFamily="34" charset="0"/>
              <a:buChar char="•"/>
            </a:pPr>
            <a:r>
              <a:rPr lang="en-US" sz="1200" b="0">
                <a:latin typeface="Arial"/>
                <a:cs typeface="Arial"/>
              </a:rPr>
              <a:t>A total number of [#] </a:t>
            </a:r>
            <a:r>
              <a:rPr lang="en-US" sz="1200">
                <a:latin typeface="Arial"/>
                <a:cs typeface="Arial"/>
              </a:rPr>
              <a:t>unit </a:t>
            </a:r>
            <a:r>
              <a:rPr lang="en-US" sz="1200" b="0">
                <a:latin typeface="Arial"/>
                <a:cs typeface="Arial"/>
              </a:rPr>
              <a:t>test cases were created.</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b="0">
                <a:latin typeface="Arial"/>
                <a:cs typeface="Arial"/>
              </a:rPr>
              <a:t>The unit test coverage for all components comprising the model was [#] %.</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r>
              <a:rPr lang="en-US" sz="1200" b="0">
                <a:latin typeface="Arial"/>
                <a:cs typeface="Arial"/>
              </a:rPr>
              <a:t>UI testing verified that the model’s user interface within the Analytical Desktop workflow system correctly captures user inputs and displays the expected outputs.</a:t>
            </a:r>
          </a:p>
          <a:p>
            <a:pPr marL="285750" indent="-285750" algn="just">
              <a:buFont typeface="Arial" pitchFamily="34" charset="0"/>
              <a:buChar char="•"/>
            </a:pPr>
            <a:endParaRPr lang="en-US" sz="1200">
              <a:latin typeface="Arial"/>
              <a:cs typeface="Arial"/>
            </a:endParaRPr>
          </a:p>
          <a:p>
            <a:pPr marL="285750"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US" sz="1200">
                <a:latin typeface="Arial"/>
                <a:cs typeface="Arial"/>
              </a:rPr>
              <a:t>Integration tests complements unit testing, it ensures that components of a model work correctly to produce the accurate and expected ultimate results.</a:t>
            </a:r>
          </a:p>
          <a:p>
            <a:pPr marL="285750" indent="-285750" algn="just">
              <a:buFont typeface="Arial" pitchFamily="34" charset="0"/>
              <a:buChar char="•"/>
            </a:pPr>
            <a:endParaRPr lang="en-US" sz="1200">
              <a:solidFill>
                <a:srgbClr val="D6002A"/>
              </a:solidFill>
              <a:latin typeface="Arial"/>
              <a:cs typeface="Arial"/>
            </a:endParaRPr>
          </a:p>
          <a:p>
            <a:pPr marL="742950" lvl="1" indent="-285750" algn="just">
              <a:buFont typeface="Arial" pitchFamily="34" charset="0"/>
              <a:buChar char="•"/>
            </a:pPr>
            <a:r>
              <a:rPr lang="en-US" sz="1200" b="0">
                <a:latin typeface="Arial"/>
                <a:cs typeface="Arial"/>
              </a:rPr>
              <a:t>[#]</a:t>
            </a:r>
            <a:r>
              <a:rPr lang="en-US" sz="1200">
                <a:latin typeface="Arial"/>
                <a:cs typeface="Arial"/>
              </a:rPr>
              <a:t> integration test scenarios were created to ensure end-to-end calculations behave as expected. </a:t>
            </a:r>
          </a:p>
          <a:p>
            <a:pPr marL="285750" indent="-285750" algn="just">
              <a:buFont typeface="Arial" pitchFamily="34" charset="0"/>
              <a:buChar char="•"/>
            </a:pPr>
            <a:endParaRPr lang="en-US" sz="1200">
              <a:latin typeface="Arial"/>
              <a:cs typeface="Arial"/>
            </a:endParaRPr>
          </a:p>
          <a:p>
            <a:pPr marL="742950" lvl="1" indent="-285750" algn="just">
              <a:buFont typeface="Arial" pitchFamily="34" charset="0"/>
              <a:buChar char="•"/>
            </a:pPr>
            <a:r>
              <a:rPr lang="en-US" sz="1200">
                <a:latin typeface="Arial"/>
                <a:cs typeface="Arial"/>
              </a:rPr>
              <a:t>All integration test scenarios passed and met expectations.</a:t>
            </a:r>
          </a:p>
          <a:p>
            <a:pPr marL="742950" lvl="1" indent="-285750" algn="just">
              <a:buFont typeface="Arial" pitchFamily="34" charset="0"/>
              <a:buChar char="•"/>
            </a:pPr>
            <a:endParaRPr lang="en-US" sz="1200">
              <a:solidFill>
                <a:srgbClr val="D6002A"/>
              </a:solidFill>
              <a:latin typeface="Arial"/>
              <a:cs typeface="Arial"/>
            </a:endParaRPr>
          </a:p>
          <a:p>
            <a:pPr marL="285750" indent="-285750" algn="just">
              <a:buFont typeface="Arial" pitchFamily="34" charset="0"/>
              <a:buChar char="•"/>
            </a:pPr>
            <a:r>
              <a:rPr lang="en-GB" sz="1200">
                <a:latin typeface="Arial"/>
                <a:cs typeface="Arial"/>
              </a:rPr>
              <a:t>End User Testing – The model was tested end to end using actual data, user inputs and outputs verified.</a:t>
            </a:r>
            <a:endParaRPr lang="en-US" sz="1200">
              <a:latin typeface="Arial"/>
              <a:cs typeface="Arial"/>
            </a:endParaRPr>
          </a:p>
          <a:p>
            <a:pPr marL="285750" indent="-285750" algn="just">
              <a:buFont typeface="Arial" pitchFamily="34" charset="0"/>
              <a:buChar char="•"/>
            </a:pPr>
            <a:endParaRPr lang="en-US" sz="1200">
              <a:latin typeface="Arial" pitchFamily="34" charset="0"/>
              <a:cs typeface="Arial" pitchFamily="34" charset="0"/>
            </a:endParaRPr>
          </a:p>
          <a:p>
            <a:pPr marL="285750" indent="-285750" algn="just">
              <a:buFont typeface="Arial" pitchFamily="34" charset="0"/>
              <a:buChar char="•"/>
            </a:pPr>
            <a:r>
              <a:rPr lang="en-US" sz="1200" b="0">
                <a:latin typeface="Arial" pitchFamily="34" charset="0"/>
                <a:cs typeface="Arial" pitchFamily="34" charset="0"/>
              </a:rPr>
              <a:t>There were </a:t>
            </a:r>
            <a:r>
              <a:rPr lang="en-US" sz="1200" b="0" u="sng">
                <a:latin typeface="Arial" pitchFamily="34" charset="0"/>
                <a:cs typeface="Arial" pitchFamily="34" charset="0"/>
              </a:rPr>
              <a:t>no</a:t>
            </a:r>
            <a:r>
              <a:rPr lang="en-US" sz="1200" b="0">
                <a:latin typeface="Arial" pitchFamily="34" charset="0"/>
                <a:cs typeface="Arial" pitchFamily="34" charset="0"/>
              </a:rPr>
              <a:t> issues reported during the unit, UI, and integration test runs. </a:t>
            </a:r>
          </a:p>
          <a:p>
            <a:pPr algn="just"/>
            <a:endParaRPr lang="en-US" sz="1200">
              <a:solidFill>
                <a:srgbClr val="D6002A"/>
              </a:solidFill>
              <a:latin typeface="Arial"/>
              <a:cs typeface="Arial"/>
            </a:endParaRPr>
          </a:p>
          <a:p>
            <a:pPr marL="742950" lvl="1" indent="-285750" algn="just">
              <a:buFont typeface="Arial" pitchFamily="34" charset="0"/>
              <a:buChar char="•"/>
            </a:pPr>
            <a:endParaRPr lang="en-US" sz="1200" b="0">
              <a:latin typeface="Arial"/>
              <a:cs typeface="Arial"/>
            </a:endParaRPr>
          </a:p>
        </p:txBody>
      </p:sp>
    </p:spTree>
    <p:extLst>
      <p:ext uri="{BB962C8B-B14F-4D97-AF65-F5344CB8AC3E}">
        <p14:creationId xmlns:p14="http://schemas.microsoft.com/office/powerpoint/2010/main" val="127864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13</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a:t>
            </a:r>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06526"/>
            <a:ext cx="8437853" cy="3416320"/>
          </a:xfrm>
          <a:prstGeom prst="rect">
            <a:avLst/>
          </a:prstGeom>
          <a:noFill/>
        </p:spPr>
        <p:txBody>
          <a:bodyPr wrap="square" rtlCol="0">
            <a:spAutoFit/>
          </a:bodyPr>
          <a:lstStyle/>
          <a:p>
            <a:pPr algn="just"/>
            <a:r>
              <a:rPr lang="en-US" sz="1200" b="0">
                <a:latin typeface="Arial" pitchFamily="34" charset="0"/>
                <a:cs typeface="Arial" pitchFamily="34" charset="0"/>
              </a:rPr>
              <a:t>Not applicable. This model was recoded in R under the new architectural design and follows the unit, UI, and integration testing framework described on the preceding Testing slide.</a:t>
            </a:r>
          </a:p>
        </p:txBody>
      </p:sp>
    </p:spTree>
    <p:extLst>
      <p:ext uri="{BB962C8B-B14F-4D97-AF65-F5344CB8AC3E}">
        <p14:creationId xmlns:p14="http://schemas.microsoft.com/office/powerpoint/2010/main" val="209851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endParaRPr lang="en-US" sz="1600" b="0"/>
          </a:p>
          <a:p>
            <a:pPr marL="400050" indent="-400050">
              <a:buAutoNum type="romanLcPeriod"/>
            </a:pPr>
            <a:endParaRPr lang="en-US" sz="1600" b="0"/>
          </a:p>
          <a:p>
            <a:pPr marL="400050" indent="-400050">
              <a:buAutoNum type="romanLcPeriod"/>
            </a:pPr>
            <a:endParaRPr lang="en-US" sz="1600" b="0"/>
          </a:p>
          <a:p>
            <a:endParaRPr lang="en-US" sz="1600" b="0"/>
          </a:p>
          <a:p>
            <a:endParaRPr lang="en-US" sz="1600" b="0"/>
          </a:p>
          <a:p>
            <a:endParaRPr lang="en-US" sz="1600" b="0"/>
          </a:p>
          <a:p>
            <a:endParaRPr lang="en-US" sz="1600"/>
          </a:p>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D8C7B916-C5B8-B44E-8A57-C4F989E2FE98}" type="slidenum">
              <a:rPr kumimoji="0" lang="en-US" sz="1000" b="0" i="0" u="none" strike="noStrike" kern="1200" cap="none" spc="0" normalizeH="0" baseline="0" noProof="0" smtClean="0">
                <a:ln>
                  <a:noFill/>
                </a:ln>
                <a:solidFill>
                  <a:srgbClr val="000000"/>
                </a:solidFill>
                <a:effectLst/>
                <a:uLnTx/>
                <a:uFillTx/>
                <a:latin typeface="Arial Regular" charset="0"/>
                <a:ea typeface="MS PGothic" charset="0"/>
              </a:rPr>
              <a:pPr marL="0" marR="0" lvl="0" indent="0" algn="r" defTabSz="457200" rtl="0" eaLnBrk="1" fontAlgn="base" latinLnBrk="0" hangingPunct="1">
                <a:lnSpc>
                  <a:spcPct val="100000"/>
                </a:lnSpc>
                <a:spcBef>
                  <a:spcPct val="0"/>
                </a:spcBef>
                <a:spcAft>
                  <a:spcPct val="0"/>
                </a:spcAft>
                <a:buClrTx/>
                <a:buSzTx/>
                <a:buFontTx/>
                <a:buNone/>
                <a:defRPr/>
              </a:pPr>
              <a:t>14</a:t>
            </a:fld>
            <a:endParaRPr kumimoji="0" lang="en-US" sz="1000" b="0" i="0" u="none" strike="noStrike" kern="1200" cap="none" spc="0" normalizeH="0" baseline="0" noProof="0">
              <a:ln>
                <a:noFill/>
              </a:ln>
              <a:solidFill>
                <a:srgbClr val="000000"/>
              </a:solidFill>
              <a:effectLst/>
              <a:uLnTx/>
              <a:uFillTx/>
              <a:latin typeface="Arial Regular" charset="0"/>
              <a:ea typeface="MS PGothic" charset="0"/>
            </a:endParaRPr>
          </a:p>
        </p:txBody>
      </p:sp>
      <p:sp>
        <p:nvSpPr>
          <p:cNvPr id="11" name="Title 10"/>
          <p:cNvSpPr>
            <a:spLocks noGrp="1"/>
          </p:cNvSpPr>
          <p:nvPr>
            <p:ph type="title"/>
          </p:nvPr>
        </p:nvSpPr>
        <p:spPr>
          <a:xfrm>
            <a:off x="227013" y="280846"/>
            <a:ext cx="8688387" cy="425592"/>
          </a:xfrm>
        </p:spPr>
        <p:txBody>
          <a:bodyPr/>
          <a:lstStyle/>
          <a:p>
            <a:pPr lvl="0"/>
            <a:r>
              <a:rPr lang="en-US" sz="1800"/>
              <a:t>9. Back-Testing: </a:t>
            </a:r>
            <a:br>
              <a:rPr lang="en-US" sz="1400"/>
            </a:br>
            <a:br>
              <a:rPr lang="en-US" sz="1400"/>
            </a:br>
            <a:r>
              <a:rPr lang="en-US" sz="1400" b="0"/>
              <a:t>This Covered Model solely implements analytical considerations that are set out in the applicable Criteria. The Criteria performance metrics are therefore used to confirm acceptable model performance. As the model relies solely on Criteria Validation back-testing, this slide will be completed by AQV at the same time the Model Validation Report is issued, summarizing the performance metrics for the model’s applicable Criteria.</a:t>
            </a:r>
          </a:p>
        </p:txBody>
      </p:sp>
      <p:sp>
        <p:nvSpPr>
          <p:cNvPr id="7" name="Content Placeholder 5"/>
          <p:cNvSpPr txBox="1"/>
          <p:nvPr/>
        </p:nvSpPr>
        <p:spPr>
          <a:xfrm>
            <a:off x="457200" y="987396"/>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base" latinLnBrk="0" hangingPunct="1">
              <a:lnSpc>
                <a:spcPct val="95000"/>
              </a:lnSpc>
              <a:spcBef>
                <a:spcPts val="1200"/>
              </a:spcBef>
              <a:spcAft>
                <a:spcPct val="0"/>
              </a:spcAft>
              <a:buClrTx/>
              <a:buSzTx/>
              <a:buFont typeface="Arial"/>
              <a:buNone/>
              <a:defRPr/>
            </a:pPr>
            <a:endParaRPr kumimoji="0" lang="en-US" sz="1600" b="1" i="0" u="none" strike="noStrike" kern="1200" cap="none" spc="0" normalizeH="0" baseline="0" noProof="0">
              <a:ln>
                <a:noFill/>
              </a:ln>
              <a:solidFill>
                <a:prstClr val="black"/>
              </a:solidFill>
              <a:effectLst/>
              <a:uLnTx/>
              <a:uFillTx/>
              <a:latin typeface="Calibri"/>
              <a:ea typeface="+mn-ea"/>
              <a:cs typeface="+mn-cs"/>
            </a:endParaRPr>
          </a:p>
          <a:p>
            <a:pPr marL="342900" marR="0" lvl="0" indent="-342900" algn="l" defTabSz="457200" rtl="0" eaLnBrk="1" fontAlgn="base" latinLnBrk="0" hangingPunct="1">
              <a:lnSpc>
                <a:spcPct val="95000"/>
              </a:lnSpc>
              <a:spcBef>
                <a:spcPts val="1200"/>
              </a:spcBef>
              <a:spcAft>
                <a:spcPct val="0"/>
              </a:spcAft>
              <a:buClrTx/>
              <a:buSzTx/>
              <a:buFont typeface="Arial" pitchFamily="34" charset="0"/>
              <a:buChar char="•"/>
              <a:defRPr/>
            </a:pPr>
            <a:endParaRPr kumimoji="0" lang="en-US" sz="2000" b="1"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149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27806" y="648482"/>
            <a:ext cx="8688387" cy="5912574"/>
          </a:xfrm>
        </p:spPr>
        <p:txBody>
          <a:bodyPr/>
          <a:lstStyle/>
          <a:p>
            <a:r>
              <a:rPr lang="en-US" sz="1400" b="0"/>
              <a:t>To be completed by AQV at the same time the Model Validation Report is issued.</a:t>
            </a:r>
          </a:p>
          <a:p>
            <a:pPr marL="457200" indent="-457200">
              <a:spcBef>
                <a:spcPct val="0"/>
              </a:spcBef>
              <a:buAutoNum type="arabicPeriod"/>
            </a:pPr>
            <a:r>
              <a:rPr lang="en-GB" sz="1400"/>
              <a:t>Validation Team:</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Lead Validator: [TBD]</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Support Validator: [TBD]</a:t>
            </a:r>
          </a:p>
          <a:p>
            <a:pPr marL="628650" lvl="1" indent="-171450">
              <a:spcBef>
                <a:spcPct val="0"/>
              </a:spcBef>
              <a:spcAft>
                <a:spcPct val="0"/>
              </a:spcAft>
              <a:buFont typeface="Arial" pitchFamily="34" charset="0"/>
              <a:buChar char="•"/>
            </a:pPr>
            <a:r>
              <a:rPr lang="en-US" sz="1400" b="0">
                <a:latin typeface="Arial" pitchFamily="34" charset="0"/>
                <a:cs typeface="Arial" pitchFamily="34" charset="0"/>
              </a:rPr>
              <a:t>Designated Approver: [TBD]</a:t>
            </a:r>
          </a:p>
          <a:p>
            <a:pPr marL="457200" indent="-457200">
              <a:spcBef>
                <a:spcPct val="0"/>
              </a:spcBef>
              <a:buAutoNum type="arabicPeriod"/>
            </a:pPr>
            <a:endParaRPr lang="en-US" sz="1400"/>
          </a:p>
          <a:p>
            <a:pPr marL="457200" indent="-457200">
              <a:spcBef>
                <a:spcPct val="0"/>
              </a:spcBef>
              <a:buAutoNum type="arabicPeriod"/>
            </a:pPr>
            <a:r>
              <a:rPr lang="en-US" sz="1400" b="1">
                <a:latin typeface="Arial"/>
                <a:ea typeface="MS PGothic" charset="0"/>
                <a:cs typeface="Arial"/>
              </a:rPr>
              <a:t>Summary of Validation Fieldwork: </a:t>
            </a:r>
            <a:r>
              <a:rPr lang="en-US" sz="1400" b="0"/>
              <a:t>[To be completed by AQV]</a:t>
            </a:r>
          </a:p>
          <a:p>
            <a:pPr marL="457200" indent="-457200">
              <a:spcBef>
                <a:spcPct val="0"/>
              </a:spcBef>
              <a:buAutoNum type="arabicPeriod"/>
            </a:pPr>
            <a:endParaRPr lang="en-US" sz="1400"/>
          </a:p>
          <a:p>
            <a:pPr marL="457200" indent="-457200">
              <a:spcBef>
                <a:spcPct val="0"/>
              </a:spcBef>
              <a:buAutoNum type="arabicPeriod"/>
            </a:pPr>
            <a:r>
              <a:rPr lang="en-US" sz="1400" b="1">
                <a:latin typeface="Arial"/>
                <a:cs typeface="Arial"/>
              </a:rPr>
              <a:t>Comments/Findings: </a:t>
            </a:r>
            <a:r>
              <a:rPr lang="en-US" sz="1400" b="0"/>
              <a:t>[To be completed by AQV]</a:t>
            </a:r>
          </a:p>
          <a:p>
            <a:pPr marL="457200" indent="-457200">
              <a:spcBef>
                <a:spcPct val="0"/>
              </a:spcBef>
              <a:buAutoNum type="arabicPeriod"/>
            </a:pPr>
            <a:endParaRPr lang="en-US" sz="1400"/>
          </a:p>
          <a:p>
            <a:pPr marL="457200" indent="-457200">
              <a:spcBef>
                <a:spcPct val="0"/>
              </a:spcBef>
              <a:buFont typeface="Arial"/>
              <a:buAutoNum type="arabicPeriod"/>
            </a:pPr>
            <a:r>
              <a:rPr lang="en-US" sz="1400">
                <a:latin typeface="Arial"/>
                <a:cs typeface="Arial"/>
              </a:rPr>
              <a:t>All identified issues have been fixed </a:t>
            </a:r>
            <a:r>
              <a:rPr lang="en-US" sz="1400" b="0">
                <a:latin typeface="Arial"/>
                <a:cs typeface="Arial"/>
              </a:rPr>
              <a:t>before the report was issued, and all Comments have been Resolved. AQV’s overall assessment of the </a:t>
            </a:r>
            <a:r>
              <a:rPr lang="en-US" sz="1400">
                <a:latin typeface="Arial"/>
                <a:cs typeface="Arial"/>
              </a:rPr>
              <a:t>model is Satisfactory.</a:t>
            </a:r>
          </a:p>
          <a:p>
            <a:pPr marL="457200" indent="-457200">
              <a:spcBef>
                <a:spcPct val="0"/>
              </a:spcBef>
              <a:buFont typeface="Arial"/>
              <a:buAutoNum type="arabicPeriod"/>
            </a:pPr>
            <a:endParaRPr lang="en-US" sz="1400" b="0">
              <a:solidFill>
                <a:srgbClr val="FF0000"/>
              </a:solidFill>
            </a:endParaRPr>
          </a:p>
          <a:p>
            <a:pPr marL="457200" indent="-457200">
              <a:spcBef>
                <a:spcPct val="0"/>
              </a:spcBef>
              <a:buFont typeface="Arial"/>
              <a:buAutoNum type="arabicPeriod"/>
            </a:pPr>
            <a:r>
              <a:rPr lang="en-US" sz="1400" b="1">
                <a:latin typeface="Arial"/>
                <a:cs typeface="Arial"/>
              </a:rPr>
              <a:t>All the necessary documents and files for model development, governance and validation have been appropriately stored in the Model Repository (MDTS).</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15</a:t>
            </a:fld>
            <a:endParaRPr lang="en-US"/>
          </a:p>
        </p:txBody>
      </p:sp>
      <p:sp>
        <p:nvSpPr>
          <p:cNvPr id="5" name="Title 4"/>
          <p:cNvSpPr>
            <a:spLocks noGrp="1"/>
          </p:cNvSpPr>
          <p:nvPr>
            <p:ph type="title"/>
          </p:nvPr>
        </p:nvSpPr>
        <p:spPr>
          <a:xfrm>
            <a:off x="317352" y="217144"/>
            <a:ext cx="8119382" cy="427434"/>
          </a:xfrm>
        </p:spPr>
        <p:txBody>
          <a:bodyPr/>
          <a:lstStyle/>
          <a:p>
            <a:r>
              <a:rPr lang="en-US" sz="1800"/>
              <a:t>10. Model Validation Summary</a:t>
            </a:r>
          </a:p>
        </p:txBody>
      </p:sp>
    </p:spTree>
    <p:extLst>
      <p:ext uri="{BB962C8B-B14F-4D97-AF65-F5344CB8AC3E}">
        <p14:creationId xmlns:p14="http://schemas.microsoft.com/office/powerpoint/2010/main" val="139463630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457200" indent="-457200">
              <a:buAutoNum type="arabicPeriod"/>
            </a:pPr>
            <a:r>
              <a:rPr lang="en-GB" sz="1400"/>
              <a:t>Is this a new Model or material change to a Model?</a:t>
            </a:r>
            <a:r>
              <a:rPr lang="en-US" sz="1400" b="0"/>
              <a:t> Material change</a:t>
            </a:r>
          </a:p>
          <a:p>
            <a:pPr marL="457200" indent="-457200">
              <a:buAutoNum type="arabicPeriod"/>
            </a:pPr>
            <a:endParaRPr lang="en-US" sz="1400"/>
          </a:p>
          <a:p>
            <a:pPr marL="457200" indent="-457200">
              <a:buAutoNum type="arabicPeriod"/>
            </a:pPr>
            <a:r>
              <a:rPr lang="en-US" sz="1400"/>
              <a:t>Is training required</a:t>
            </a:r>
            <a:r>
              <a:rPr lang="en-US" sz="1400" b="0"/>
              <a:t>? Yes</a:t>
            </a:r>
          </a:p>
          <a:p>
            <a:pPr marL="457200" indent="-457200">
              <a:buAutoNum type="arabicPeriod"/>
            </a:pPr>
            <a:endParaRPr lang="en-US" sz="1400"/>
          </a:p>
          <a:p>
            <a:pPr marL="457200" indent="-457200">
              <a:buAutoNum type="arabicPeriod"/>
            </a:pPr>
            <a:r>
              <a:rPr lang="en-US" sz="1400"/>
              <a:t>Has training been completed? </a:t>
            </a:r>
            <a:r>
              <a:rPr lang="en-US" sz="1400" b="0"/>
              <a:t>No*</a:t>
            </a:r>
          </a:p>
          <a:p>
            <a:pPr marL="457200" indent="-457200">
              <a:buAutoNum type="arabicPeriod"/>
            </a:pPr>
            <a:endParaRPr lang="en-US" sz="1400"/>
          </a:p>
          <a:p>
            <a:pPr marL="457200" indent="-457200">
              <a:buAutoNum type="arabicPeriod"/>
            </a:pPr>
            <a:r>
              <a:rPr lang="en-US" sz="1400"/>
              <a:t>Date of completed Model training – </a:t>
            </a:r>
            <a:r>
              <a:rPr lang="en-US" sz="1400" b="0"/>
              <a:t>N/A*</a:t>
            </a:r>
          </a:p>
          <a:p>
            <a:pPr marL="0" indent="0">
              <a:buNone/>
            </a:pPr>
            <a:r>
              <a:rPr lang="en-US" sz="1200" b="0" i="1"/>
              <a:t>*Model training will follow the Analytical Desktop rollout timeline.</a:t>
            </a: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16</a:t>
            </a:fld>
            <a:endParaRPr lang="en-US"/>
          </a:p>
        </p:txBody>
      </p:sp>
      <p:sp>
        <p:nvSpPr>
          <p:cNvPr id="5" name="Title 4"/>
          <p:cNvSpPr>
            <a:spLocks noGrp="1"/>
          </p:cNvSpPr>
          <p:nvPr>
            <p:ph type="title"/>
          </p:nvPr>
        </p:nvSpPr>
        <p:spPr/>
        <p:txBody>
          <a:bodyPr/>
          <a:lstStyle/>
          <a:p>
            <a:r>
              <a:rPr lang="en-US" sz="1800"/>
              <a:t>11. Model Training</a:t>
            </a:r>
          </a:p>
        </p:txBody>
      </p:sp>
    </p:spTree>
    <p:extLst>
      <p:ext uri="{BB962C8B-B14F-4D97-AF65-F5344CB8AC3E}">
        <p14:creationId xmlns:p14="http://schemas.microsoft.com/office/powerpoint/2010/main" val="5147519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marL="285750" indent="-285750">
              <a:buFont typeface="Arial" pitchFamily="34" charset="0"/>
              <a:buChar char="•"/>
            </a:pPr>
            <a:r>
              <a:rPr lang="en-US" sz="1800"/>
              <a:t>Reason for Retirement Request:  </a:t>
            </a:r>
          </a:p>
          <a:p>
            <a:pPr marL="468630" lvl="1" indent="-285750">
              <a:buFont typeface="Arial" pitchFamily="34" charset="0"/>
              <a:buChar char="•"/>
            </a:pPr>
            <a:r>
              <a:rPr lang="en-US" sz="1400" b="0"/>
              <a:t>RS-INS-GLB-R-001116-V001 IICRA RSR (R) is the R recode of, and fully supersedes, the Excel IICRA RSR model. We request that RS-INS-GLB-R-000463-V007 IICRA RSR (Excel) be retired upon completion of the analyst transition to the Analytical Desktop (AD) application, once RS-INS-GLB-R-001116-V001 is in Business Use.</a:t>
            </a:r>
          </a:p>
          <a:p>
            <a:pPr marL="468630" lvl="1" indent="-285750">
              <a:buFont typeface="Arial" pitchFamily="34" charset="0"/>
              <a:buChar char="•"/>
            </a:pPr>
            <a:r>
              <a:rPr lang="en-US" sz="1400" b="0"/>
              <a:t>Requested retirement date of the current Excel model (RS-INS-GLB-R-000463-V007): [TBD], following the full analyst transition to the Analytical Desktop application.</a:t>
            </a:r>
          </a:p>
          <a:p>
            <a:pPr marL="468630" lvl="1" indent="-285750">
              <a:buFont typeface="Arial" pitchFamily="34" charset="0"/>
              <a:buChar char="•"/>
            </a:pPr>
            <a:r>
              <a:rPr lang="en-US" sz="1400" b="0"/>
              <a:t>This model is used in Mexico.</a:t>
            </a:r>
          </a:p>
        </p:txBody>
      </p:sp>
      <p:sp>
        <p:nvSpPr>
          <p:cNvPr id="3" name="Slide Number Placeholder 2"/>
          <p:cNvSpPr>
            <a:spLocks noGrp="1"/>
          </p:cNvSpPr>
          <p:nvPr>
            <p:ph type="sldNum" sz="quarter" idx="16"/>
          </p:nvPr>
        </p:nvSpPr>
        <p:spPr/>
        <p:txBody>
          <a:bodyPr/>
          <a:lstStyle/>
          <a:p>
            <a:fld id="{B270B15E-DA89-4221-8FC4-42200B7F7AB5}" type="slidenum">
              <a:rPr lang="en-US" smtClean="0"/>
              <a:t>17</a:t>
            </a:fld>
            <a:endParaRPr lang="en-US"/>
          </a:p>
        </p:txBody>
      </p:sp>
      <p:sp>
        <p:nvSpPr>
          <p:cNvPr id="4" name="Title 3"/>
          <p:cNvSpPr>
            <a:spLocks noGrp="1"/>
          </p:cNvSpPr>
          <p:nvPr>
            <p:ph type="title"/>
          </p:nvPr>
        </p:nvSpPr>
        <p:spPr/>
        <p:txBody>
          <a:bodyPr/>
          <a:lstStyle/>
          <a:p>
            <a:r>
              <a:rPr lang="en-US" sz="1800"/>
              <a:t>12. Model Retirement Request</a:t>
            </a:r>
          </a:p>
        </p:txBody>
      </p:sp>
    </p:spTree>
    <p:extLst>
      <p:ext uri="{BB962C8B-B14F-4D97-AF65-F5344CB8AC3E}">
        <p14:creationId xmlns:p14="http://schemas.microsoft.com/office/powerpoint/2010/main" val="70354945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676" y="183512"/>
            <a:ext cx="7315200" cy="5646837"/>
          </a:xfrm>
        </p:spPr>
        <p:txBody>
          <a:bodyPr/>
          <a:lstStyle/>
          <a:p>
            <a:br>
              <a:rPr lang="en-US"/>
            </a:br>
            <a:br>
              <a:rPr lang="en-US"/>
            </a:br>
            <a:br>
              <a:rPr lang="en-US"/>
            </a:br>
            <a:r>
              <a:rPr lang="en-US"/>
              <a:t>	</a:t>
            </a:r>
            <a:r>
              <a:rPr lang="en-US">
                <a:solidFill>
                  <a:schemeClr val="bg1"/>
                </a:solidFill>
              </a:rPr>
              <a:t>Thank You</a:t>
            </a:r>
            <a:br>
              <a:rPr lang="en-US">
                <a:solidFill>
                  <a:schemeClr val="bg1"/>
                </a:solidFill>
              </a:rPr>
            </a:br>
            <a:br>
              <a:rPr lang="en-US">
                <a:solidFill>
                  <a:schemeClr val="bg1"/>
                </a:solidFill>
              </a:rPr>
            </a:br>
            <a:br>
              <a:rPr lang="en-US">
                <a:solidFill>
                  <a:schemeClr val="bg1"/>
                </a:solidFill>
              </a:rPr>
            </a:br>
            <a:r>
              <a:rPr lang="en-US" sz="1000" b="1">
                <a:solidFill>
                  <a:schemeClr val="bg1"/>
                </a:solidFill>
              </a:rPr>
              <a:t>INTERNAL COMMUNICATION ONLY / NOT FOR EXTERNAL DISTRIBUTION</a:t>
            </a:r>
            <a:r>
              <a:rPr lang="en-US" sz="1000">
                <a:solidFill>
                  <a:schemeClr val="bg1"/>
                </a:solidFill>
              </a:rPr>
              <a:t> </a:t>
            </a:r>
            <a:br>
              <a:rPr lang="en-US" sz="1000" b="1">
                <a:solidFill>
                  <a:schemeClr val="bg1"/>
                </a:solidFill>
              </a:rPr>
            </a:br>
            <a:r>
              <a:rPr lang="en-US" sz="1000" b="1">
                <a:solidFill>
                  <a:schemeClr val="bg1"/>
                </a:solidFill>
              </a:rPr>
              <a:t>This document is the property of S&amp;P Global Ratings. It contains proprietary and confidential information and is for internal use only by S&amp;P Global Ratings employees.</a:t>
            </a:r>
            <a:br>
              <a:rPr lang="en-US" sz="1000" b="1">
                <a:solidFill>
                  <a:schemeClr val="bg1"/>
                </a:solidFill>
              </a:rPr>
            </a:br>
            <a:r>
              <a:rPr lang="en-US" sz="1000" b="1">
                <a:solidFill>
                  <a:schemeClr val="bg1"/>
                </a:solidFill>
              </a:rPr>
              <a:t>This document shall not be shown or provided to anyone other than S&amp;P Global Ratings employees</a:t>
            </a:r>
            <a:br>
              <a:rPr lang="en-US" sz="1000">
                <a:solidFill>
                  <a:schemeClr val="bg1"/>
                </a:solidFill>
              </a:rPr>
            </a:br>
            <a:br>
              <a:rPr lang="en-US"/>
            </a:br>
            <a:br>
              <a:rPr lang="en-US"/>
            </a:br>
            <a:br>
              <a:rPr lang="en-US"/>
            </a:br>
            <a:endParaRPr lang="en-US"/>
          </a:p>
        </p:txBody>
      </p:sp>
      <p:sp>
        <p:nvSpPr>
          <p:cNvPr id="6" name="Footer Placeholder 5"/>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18</a:t>
            </a:fld>
            <a:endParaRPr lang="en-US"/>
          </a:p>
        </p:txBody>
      </p:sp>
    </p:spTree>
    <p:extLst>
      <p:ext uri="{BB962C8B-B14F-4D97-AF65-F5344CB8AC3E}">
        <p14:creationId xmlns:p14="http://schemas.microsoft.com/office/powerpoint/2010/main" val="9658891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24.04.14"/>
  <p:tag name="AS_TITLE" val="Aspose.Slides for .NET 4.0 Client Profile"/>
  <p:tag name="AS_VERSION" val="24.4"/>
</p:tagLst>
</file>

<file path=ppt/theme/theme1.xml><?xml version="1.0" encoding="utf-8"?>
<a:theme xmlns:a="http://schemas.openxmlformats.org/drawingml/2006/main" name="S&amp;P Global 2016">
  <a:themeElements>
    <a:clrScheme name="Custom 43">
      <a:dk1>
        <a:sysClr val="windowText" lastClr="000000"/>
      </a:dk1>
      <a:lt1>
        <a:sysClr val="window" lastClr="FFFFFF"/>
      </a:lt1>
      <a:dk2>
        <a:srgbClr val="D6002A"/>
      </a:dk2>
      <a:lt2>
        <a:srgbClr val="DBD9D6"/>
      </a:lt2>
      <a:accent1>
        <a:srgbClr val="3C3C3B"/>
      </a:accent1>
      <a:accent2>
        <a:srgbClr val="7B1E29"/>
      </a:accent2>
      <a:accent3>
        <a:srgbClr val="D53814"/>
      </a:accent3>
      <a:accent4>
        <a:srgbClr val="BEB7A9"/>
      </a:accent4>
      <a:accent5>
        <a:srgbClr val="A79886"/>
      </a:accent5>
      <a:accent6>
        <a:srgbClr val="95B3CC"/>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Platts PowerPoint Template</Template>
  <TotalTime>19708</TotalTime>
  <Words>1649</Words>
  <Application>Microsoft Office PowerPoint</Application>
  <PresentationFormat>On-screen Show (4:3)</PresentationFormat>
  <Paragraphs>202</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.AppleSystemUIFont</vt:lpstr>
      <vt:lpstr>Akkurat Pro</vt:lpstr>
      <vt:lpstr>Arial</vt:lpstr>
      <vt:lpstr>Arial Narrow</vt:lpstr>
      <vt:lpstr>Arial Regular</vt:lpstr>
      <vt:lpstr>Calibri</vt:lpstr>
      <vt:lpstr>Wingdings</vt:lpstr>
      <vt:lpstr>S&amp;P Global 2016</vt:lpstr>
      <vt:lpstr>RS-INS-GLB-R-001116-V001  IICRA RSR (R)</vt:lpstr>
      <vt:lpstr>Agenda</vt:lpstr>
      <vt:lpstr>1. Executive Summary:</vt:lpstr>
      <vt:lpstr>1. Project Background: For ProjFin Models Only, Include Project Name</vt:lpstr>
      <vt:lpstr>2. Relevant Criteria Articles</vt:lpstr>
      <vt:lpstr>3. Development Information: </vt:lpstr>
      <vt:lpstr>4. Access &amp; Version Controls for Model Deployment:</vt:lpstr>
      <vt:lpstr>5. Key Model Assumptions:</vt:lpstr>
      <vt:lpstr>5. Key Model Assumptions (continued)</vt:lpstr>
      <vt:lpstr>6. Limitations/Restrictions for the Model  </vt:lpstr>
      <vt:lpstr>7. Model Changes since last CMGC/Board Approved Version</vt:lpstr>
      <vt:lpstr>8. Testing</vt:lpstr>
      <vt:lpstr>8. Testing</vt:lpstr>
      <vt:lpstr>9. Back-Testing:   This Covered Model solely implements analytical considerations that are set out in the applicable Criteria. The Criteria performance metrics are therefore used to confirm acceptable model performance. As the model relies solely on Criteria Validation back-testing, this slide will be completed by AQV at the same time the Model Validation Report is issued, summarizing the performance metrics for the model’s applicable Criteria.</vt:lpstr>
      <vt:lpstr>10. Model Validation Summary</vt:lpstr>
      <vt:lpstr>11. Model Training</vt:lpstr>
      <vt:lpstr>12. Model Retirement Request</vt:lpstr>
      <vt:lpstr>    Thank You   INTERNAL COMMUNICATION ONLY / NOT FOR EXTERNAL DISTRIBUTION  This document is the property of S&amp;P Global Ratings. It contains proprietary and confidential information and is for internal use only by S&amp;P Global Ratings employees. This document shall not be shown or provided to anyone other than S&amp;P Global Ratings employees    </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PLATTS POWERPOINT TEMPLATE</dc:title>
  <dc:creator>Noble, Louise</dc:creator>
  <cp:lastModifiedBy>Ding, Derek (Analytical)</cp:lastModifiedBy>
  <cp:revision>461</cp:revision>
  <cp:lastPrinted>2019-06-07T12:22:39Z</cp:lastPrinted>
  <dcterms:created xsi:type="dcterms:W3CDTF">2016-03-04T19:47:25Z</dcterms:created>
  <dcterms:modified xsi:type="dcterms:W3CDTF">2026-06-22T14:53:34Z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MSIP_Label_831f0267-8575-4fc2-99cc-f6b7f9934be9_ActionId">
    <vt:lpwstr>76bfbcb0-8001-4aae-9a1c-efd4f8dd2c79</vt:lpwstr>
  </property>
  <property fmtid="{D5CDD505-2E9C-101B-9397-08002B2CF9AE}" pid="4" name="MSIP_Label_831f0267-8575-4fc2-99cc-f6b7f9934be9_ContentBits">
    <vt:lpwstr>0</vt:lpwstr>
  </property>
  <property fmtid="{D5CDD505-2E9C-101B-9397-08002B2CF9AE}" pid="5" name="MSIP_Label_831f0267-8575-4fc2-99cc-f6b7f9934be9_Enabled">
    <vt:lpwstr>true</vt:lpwstr>
  </property>
  <property fmtid="{D5CDD505-2E9C-101B-9397-08002B2CF9AE}" pid="6" name="MSIP_Label_831f0267-8575-4fc2-99cc-f6b7f9934be9_Method">
    <vt:lpwstr>Standard</vt:lpwstr>
  </property>
  <property fmtid="{D5CDD505-2E9C-101B-9397-08002B2CF9AE}" pid="7" name="MSIP_Label_831f0267-8575-4fc2-99cc-f6b7f9934be9_Name">
    <vt:lpwstr>831f0267-8575-4fc2-99cc-f6b7f9934be9</vt:lpwstr>
  </property>
  <property fmtid="{D5CDD505-2E9C-101B-9397-08002B2CF9AE}" pid="8" name="MSIP_Label_831f0267-8575-4fc2-99cc-f6b7f9934be9_SetDate">
    <vt:lpwstr>2023-06-07T00:15:26Z</vt:lpwstr>
  </property>
  <property fmtid="{D5CDD505-2E9C-101B-9397-08002B2CF9AE}" pid="9" name="MSIP_Label_831f0267-8575-4fc2-99cc-f6b7f9934be9_SiteId">
    <vt:lpwstr>8f3e36ea-8039-4b40-81a7-7dc0599e8645</vt:lpwstr>
  </property>
  <property fmtid="{D5CDD505-2E9C-101B-9397-08002B2CF9AE}" pid="10" name="TitusGUID">
    <vt:lpwstr>8c0e194a-de81-4b66-862c-6cababba84f5</vt:lpwstr>
  </property>
</Properties>
</file>